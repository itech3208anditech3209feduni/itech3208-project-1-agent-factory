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1387816" cy="30275784"/>
  <p:notesSz cx="30275784" cy="2138781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387816" cy="356616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365760"/>
            <a:ext cx="1280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6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FACTORY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960120"/>
            <a:ext cx="1956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Reminders that respect consent, and an AI receptionist that answers the phone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914400" y="2880360"/>
            <a:ext cx="1956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ITECH3208 / 3209  ·  Federation University  ·  Client: Zakir Ullah Shah  ·  Sprint 5 poster session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3913632"/>
            <a:ext cx="731520" cy="7315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9136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874520" y="3886200"/>
            <a:ext cx="1856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definition: goal and sprint goals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914400" y="484632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14400" y="5349240"/>
            <a:ext cx="8778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clinics, salons and trades reminders that never message anyone who has not opted in, and an AI receptionist that answers their phone, on one platform they control.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914400" y="731520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914400" y="7772400"/>
            <a:ext cx="8778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businesses lose bookings to no-shows and missed calls, and cannot risk messaging people who never agreed to be contacted.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789920" y="48463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goals (each one checkable)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0789920" y="53949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gaps found against the client brief: reminder controls, templates, rescheduling, call summaries, site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9065240" y="5532120"/>
            <a:ext cx="1417320" cy="502920"/>
          </a:xfrm>
          <a:prstGeom prst="roundRect">
            <a:avLst>
              <a:gd name="adj" fmla="val 49091"/>
            </a:avLst>
          </a:prstGeom>
          <a:solidFill>
            <a:srgbClr val="2E7D5B"/>
          </a:solidFill>
          <a:ln/>
        </p:spPr>
      </p:sp>
      <p:sp>
        <p:nvSpPr>
          <p:cNvPr id="16" name="Text 14"/>
          <p:cNvSpPr/>
          <p:nvPr/>
        </p:nvSpPr>
        <p:spPr>
          <a:xfrm>
            <a:off x="19065240" y="55321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789920" y="626364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delivery end to end: an email reminder lands on time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9065240" y="6400800"/>
            <a:ext cx="1417320" cy="502920"/>
          </a:xfrm>
          <a:prstGeom prst="roundRect">
            <a:avLst>
              <a:gd name="adj" fmla="val 49091"/>
            </a:avLst>
          </a:prstGeom>
          <a:solidFill>
            <a:srgbClr val="2E7D5B"/>
          </a:solidFill>
          <a:ln/>
        </p:spPr>
      </p:sp>
      <p:sp>
        <p:nvSpPr>
          <p:cNvPr id="19" name="Text 17"/>
          <p:cNvSpPr/>
          <p:nvPr/>
        </p:nvSpPr>
        <p:spPr>
          <a:xfrm>
            <a:off x="19065240" y="64008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789920" y="713232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each organisation's data separate: activity, analytics, exports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19065240" y="7269480"/>
            <a:ext cx="1417320" cy="502920"/>
          </a:xfrm>
          <a:prstGeom prst="roundRect">
            <a:avLst>
              <a:gd name="adj" fmla="val 49091"/>
            </a:avLst>
          </a:prstGeom>
          <a:solidFill>
            <a:srgbClr val="2E7D5B"/>
          </a:solidFill>
          <a:ln/>
        </p:spPr>
      </p:sp>
      <p:sp>
        <p:nvSpPr>
          <p:cNvPr id="22" name="Text 20"/>
          <p:cNvSpPr/>
          <p:nvPr/>
        </p:nvSpPr>
        <p:spPr>
          <a:xfrm>
            <a:off x="19065240" y="7269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789920" y="800100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SMS delivery and host the demo on-premise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9065240" y="8138160"/>
            <a:ext cx="1417320" cy="502920"/>
          </a:xfrm>
          <a:prstGeom prst="roundRect">
            <a:avLst>
              <a:gd name="adj" fmla="val 49091"/>
            </a:avLst>
          </a:prstGeom>
          <a:solidFill>
            <a:srgbClr val="A9701B"/>
          </a:solidFill>
          <a:ln/>
        </p:spPr>
      </p:sp>
      <p:sp>
        <p:nvSpPr>
          <p:cNvPr id="25" name="Text 23"/>
          <p:cNvSpPr/>
          <p:nvPr/>
        </p:nvSpPr>
        <p:spPr>
          <a:xfrm>
            <a:off x="19065240" y="8138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14400" y="8942832"/>
            <a:ext cx="731520" cy="7315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89428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874520" y="8915400"/>
            <a:ext cx="1856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status and demo: try it now</a:t>
            </a:r>
            <a:endParaRPr lang="en-US" sz="4200" dirty="0"/>
          </a:p>
        </p:txBody>
      </p:sp>
      <p:sp>
        <p:nvSpPr>
          <p:cNvPr id="29" name="Text 27"/>
          <p:cNvSpPr/>
          <p:nvPr/>
        </p:nvSpPr>
        <p:spPr>
          <a:xfrm>
            <a:off x="914400" y="9921240"/>
            <a:ext cx="139903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Scan the code and sign in (ask us for the demo login)</a:t>
            </a:r>
            <a:endParaRPr lang="en-US" sz="2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Contacts: opted-in and opted-out people</a:t>
            </a:r>
            <a:endParaRPr lang="en-US" sz="2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Schedule a reminder: opted-out contacts and past dates are refused</a:t>
            </a:r>
            <a:endParaRPr lang="en-US" sz="2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Call +1 802 444 8729: ask the hours, then say goodbye</a:t>
            </a:r>
            <a:endParaRPr lang="en-US" sz="2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Activity tab: the call, with its summary, sentiment and priority</a:t>
            </a:r>
            <a:endParaRPr lang="en-US" sz="2700" dirty="0"/>
          </a:p>
        </p:txBody>
      </p:sp>
      <p:pic>
        <p:nvPicPr>
          <p:cNvPr id="30" name="Image 0" descr="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19120" y="9829800"/>
            <a:ext cx="3931920" cy="393192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15819120" y="138074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914400" y="14584680"/>
            <a:ext cx="4663440" cy="1600200"/>
          </a:xfrm>
          <a:prstGeom prst="roundRect">
            <a:avLst>
              <a:gd name="adj" fmla="val 571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97280" y="1463040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708</a:t>
            </a:r>
            <a:endParaRPr lang="en-US" sz="4000" dirty="0"/>
          </a:p>
        </p:txBody>
      </p:sp>
      <p:sp>
        <p:nvSpPr>
          <p:cNvPr id="34" name="Text 31"/>
          <p:cNvSpPr/>
          <p:nvPr/>
        </p:nvSpPr>
        <p:spPr>
          <a:xfrm>
            <a:off x="1097280" y="154076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tests, run by CI on every change</a:t>
            </a:r>
            <a:endParaRPr lang="en-US" sz="1900" dirty="0"/>
          </a:p>
        </p:txBody>
      </p:sp>
      <p:sp>
        <p:nvSpPr>
          <p:cNvPr id="35" name="Shape 32"/>
          <p:cNvSpPr/>
          <p:nvPr/>
        </p:nvSpPr>
        <p:spPr>
          <a:xfrm>
            <a:off x="5879592" y="14584680"/>
            <a:ext cx="4663440" cy="1600200"/>
          </a:xfrm>
          <a:prstGeom prst="roundRect">
            <a:avLst>
              <a:gd name="adj" fmla="val 571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062472" y="1463040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403</a:t>
            </a:r>
            <a:endParaRPr lang="en-US" sz="4000" dirty="0"/>
          </a:p>
        </p:txBody>
      </p:sp>
      <p:sp>
        <p:nvSpPr>
          <p:cNvPr id="37" name="Text 34"/>
          <p:cNvSpPr/>
          <p:nvPr/>
        </p:nvSpPr>
        <p:spPr>
          <a:xfrm>
            <a:off x="6062472" y="154076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to any forged Twilio call</a:t>
            </a:r>
            <a:endParaRPr lang="en-US" sz="1900" dirty="0"/>
          </a:p>
        </p:txBody>
      </p:sp>
      <p:sp>
        <p:nvSpPr>
          <p:cNvPr id="38" name="Shape 35"/>
          <p:cNvSpPr/>
          <p:nvPr/>
        </p:nvSpPr>
        <p:spPr>
          <a:xfrm>
            <a:off x="10844784" y="14584680"/>
            <a:ext cx="4663440" cy="1600200"/>
          </a:xfrm>
          <a:prstGeom prst="roundRect">
            <a:avLst>
              <a:gd name="adj" fmla="val 571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1027664" y="1463040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s</a:t>
            </a:r>
            <a:endParaRPr lang="en-US" sz="4000" dirty="0"/>
          </a:p>
        </p:txBody>
      </p:sp>
      <p:sp>
        <p:nvSpPr>
          <p:cNvPr id="40" name="Text 37"/>
          <p:cNvSpPr/>
          <p:nvPr/>
        </p:nvSpPr>
        <p:spPr>
          <a:xfrm>
            <a:off x="11027664" y="154076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reminder arrived after its send time</a:t>
            </a:r>
            <a:endParaRPr lang="en-US" sz="1900" dirty="0"/>
          </a:p>
        </p:txBody>
      </p:sp>
      <p:sp>
        <p:nvSpPr>
          <p:cNvPr id="41" name="Shape 38"/>
          <p:cNvSpPr/>
          <p:nvPr/>
        </p:nvSpPr>
        <p:spPr>
          <a:xfrm>
            <a:off x="15809976" y="14584680"/>
            <a:ext cx="4663440" cy="1600200"/>
          </a:xfrm>
          <a:prstGeom prst="roundRect">
            <a:avLst>
              <a:gd name="adj" fmla="val 571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5992856" y="1463040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</a:t>
            </a:r>
            <a:endParaRPr lang="en-US" sz="4000" dirty="0"/>
          </a:p>
        </p:txBody>
      </p:sp>
      <p:sp>
        <p:nvSpPr>
          <p:cNvPr id="43" name="Text 40"/>
          <p:cNvSpPr/>
          <p:nvPr/>
        </p:nvSpPr>
        <p:spPr>
          <a:xfrm>
            <a:off x="15992856" y="154076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call answered by voice</a:t>
            </a:r>
            <a:endParaRPr lang="en-US" sz="1900" dirty="0"/>
          </a:p>
        </p:txBody>
      </p:sp>
      <p:sp>
        <p:nvSpPr>
          <p:cNvPr id="44" name="Shape 41"/>
          <p:cNvSpPr/>
          <p:nvPr/>
        </p:nvSpPr>
        <p:spPr>
          <a:xfrm>
            <a:off x="914400" y="1659636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25400">
            <a:solidFill>
              <a:srgbClr val="1B2A49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024128" y="16596360"/>
            <a:ext cx="32552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 + CRM</a:t>
            </a:r>
            <a:endParaRPr lang="en-US" sz="25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contacts</a:t>
            </a:r>
            <a:endParaRPr lang="en-US" sz="2500" dirty="0"/>
          </a:p>
        </p:txBody>
      </p:sp>
      <p:sp>
        <p:nvSpPr>
          <p:cNvPr id="46" name="Shape 43"/>
          <p:cNvSpPr/>
          <p:nvPr/>
        </p:nvSpPr>
        <p:spPr>
          <a:xfrm>
            <a:off x="4937760" y="1659636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C9A227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047488" y="16596360"/>
            <a:ext cx="32552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gate</a:t>
            </a:r>
            <a:endParaRPr lang="en-US" sz="25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opt-in, STOP, quiet hours</a:t>
            </a:r>
            <a:endParaRPr lang="en-US" sz="2500" dirty="0"/>
          </a:p>
        </p:txBody>
      </p:sp>
      <p:sp>
        <p:nvSpPr>
          <p:cNvPr id="48" name="Shape 45"/>
          <p:cNvSpPr/>
          <p:nvPr/>
        </p:nvSpPr>
        <p:spPr>
          <a:xfrm>
            <a:off x="8961120" y="1659636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25400">
            <a:solidFill>
              <a:srgbClr val="1B2A49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070848" y="16596360"/>
            <a:ext cx="32552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engine</a:t>
            </a:r>
            <a:endParaRPr lang="en-US" sz="25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double sends</a:t>
            </a:r>
            <a:endParaRPr lang="en-US" sz="2500" dirty="0"/>
          </a:p>
        </p:txBody>
      </p:sp>
      <p:sp>
        <p:nvSpPr>
          <p:cNvPr id="50" name="Shape 47"/>
          <p:cNvSpPr/>
          <p:nvPr/>
        </p:nvSpPr>
        <p:spPr>
          <a:xfrm>
            <a:off x="12984480" y="1659636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25400">
            <a:solidFill>
              <a:srgbClr val="1B2A49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3094208" y="16596360"/>
            <a:ext cx="32552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SMS, voice, email</a:t>
            </a:r>
            <a:endParaRPr lang="en-US" sz="25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Twilio and SMTP</a:t>
            </a:r>
            <a:endParaRPr lang="en-US" sz="2500" dirty="0"/>
          </a:p>
        </p:txBody>
      </p:sp>
      <p:sp>
        <p:nvSpPr>
          <p:cNvPr id="52" name="Shape 49"/>
          <p:cNvSpPr/>
          <p:nvPr/>
        </p:nvSpPr>
        <p:spPr>
          <a:xfrm>
            <a:off x="17007840" y="1659636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25400">
            <a:solidFill>
              <a:srgbClr val="1B2A49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7117568" y="16596360"/>
            <a:ext cx="32552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receptionist</a:t>
            </a:r>
            <a:endParaRPr lang="en-US" sz="25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FAQ, handoff, booking</a:t>
            </a:r>
            <a:endParaRPr lang="en-US" sz="2500" dirty="0"/>
          </a:p>
        </p:txBody>
      </p:sp>
      <p:sp>
        <p:nvSpPr>
          <p:cNvPr id="54" name="Shape 51"/>
          <p:cNvSpPr/>
          <p:nvPr/>
        </p:nvSpPr>
        <p:spPr>
          <a:xfrm>
            <a:off x="4434840" y="17305020"/>
            <a:ext cx="457200" cy="0"/>
          </a:xfrm>
          <a:prstGeom prst="line">
            <a:avLst/>
          </a:prstGeom>
          <a:noFill/>
          <a:ln w="508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8458200" y="17305020"/>
            <a:ext cx="457200" cy="0"/>
          </a:xfrm>
          <a:prstGeom prst="line">
            <a:avLst/>
          </a:prstGeom>
          <a:noFill/>
          <a:ln w="508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12481560" y="17305020"/>
            <a:ext cx="457200" cy="0"/>
          </a:xfrm>
          <a:prstGeom prst="line">
            <a:avLst/>
          </a:prstGeom>
          <a:noFill/>
          <a:ln w="508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16504920" y="17305020"/>
            <a:ext cx="457200" cy="0"/>
          </a:xfrm>
          <a:prstGeom prst="line">
            <a:avLst/>
          </a:prstGeom>
          <a:noFill/>
          <a:ln w="508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914400" y="18498312"/>
            <a:ext cx="731520" cy="7315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59" name="Text 56"/>
          <p:cNvSpPr/>
          <p:nvPr/>
        </p:nvSpPr>
        <p:spPr>
          <a:xfrm>
            <a:off x="914400" y="1849831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60" name="Text 57"/>
          <p:cNvSpPr/>
          <p:nvPr/>
        </p:nvSpPr>
        <p:spPr>
          <a:xfrm>
            <a:off x="1874520" y="18470880"/>
            <a:ext cx="1856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and problem solving</a:t>
            </a:r>
            <a:endParaRPr lang="en-US" sz="4200" dirty="0"/>
          </a:p>
        </p:txBody>
      </p:sp>
      <p:sp>
        <p:nvSpPr>
          <p:cNvPr id="61" name="Shape 58"/>
          <p:cNvSpPr/>
          <p:nvPr/>
        </p:nvSpPr>
        <p:spPr>
          <a:xfrm>
            <a:off x="914400" y="19431000"/>
            <a:ext cx="63093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38100">
            <a:solidFill>
              <a:srgbClr val="2E7D5B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1143000" y="1954072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and live</a:t>
            </a:r>
            <a:endParaRPr lang="en-US" sz="2500" dirty="0"/>
          </a:p>
        </p:txBody>
      </p:sp>
      <p:sp>
        <p:nvSpPr>
          <p:cNvPr id="63" name="Text 60"/>
          <p:cNvSpPr/>
          <p:nvPr/>
        </p:nvSpPr>
        <p:spPr>
          <a:xfrm>
            <a:off x="1143000" y="20116800"/>
            <a:ext cx="58521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contacts, CSV import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rules and STOP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engine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receptionist</a:t>
            </a:r>
            <a:endParaRPr lang="en-US" sz="2200" dirty="0"/>
          </a:p>
        </p:txBody>
      </p:sp>
      <p:sp>
        <p:nvSpPr>
          <p:cNvPr id="64" name="Shape 61"/>
          <p:cNvSpPr/>
          <p:nvPr/>
        </p:nvSpPr>
        <p:spPr>
          <a:xfrm>
            <a:off x="7543800" y="19431000"/>
            <a:ext cx="63093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38100">
            <a:solidFill>
              <a:srgbClr val="A9701B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7772400" y="1954072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97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going live at next deploy</a:t>
            </a:r>
            <a:endParaRPr lang="en-US" sz="2500" dirty="0"/>
          </a:p>
        </p:txBody>
      </p:sp>
      <p:sp>
        <p:nvSpPr>
          <p:cNvPr id="66" name="Text 63"/>
          <p:cNvSpPr/>
          <p:nvPr/>
        </p:nvSpPr>
        <p:spPr>
          <a:xfrm>
            <a:off x="7772400" y="20116800"/>
            <a:ext cx="58521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Recurrence, pause, templates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Rescheduling, call summaries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Roles, API keys, exports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Per-organisation data</a:t>
            </a:r>
            <a:endParaRPr lang="en-US" sz="2200" dirty="0"/>
          </a:p>
        </p:txBody>
      </p:sp>
      <p:sp>
        <p:nvSpPr>
          <p:cNvPr id="67" name="Shape 64"/>
          <p:cNvSpPr/>
          <p:nvPr/>
        </p:nvSpPr>
        <p:spPr>
          <a:xfrm>
            <a:off x="14173200" y="19431000"/>
            <a:ext cx="63093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38100">
            <a:solidFill>
              <a:srgbClr val="1B2A49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14401800" y="1954072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do</a:t>
            </a:r>
            <a:endParaRPr lang="en-US" sz="2500" dirty="0"/>
          </a:p>
        </p:txBody>
      </p:sp>
      <p:sp>
        <p:nvSpPr>
          <p:cNvPr id="69" name="Text 66"/>
          <p:cNvSpPr/>
          <p:nvPr/>
        </p:nvSpPr>
        <p:spPr>
          <a:xfrm>
            <a:off x="14401800" y="20116800"/>
            <a:ext cx="58521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SMS: waiting on carrier approval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 Mac mini host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Recordings, handover pack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feedback</a:t>
            </a:r>
            <a:endParaRPr lang="en-US" sz="2200" dirty="0"/>
          </a:p>
        </p:txBody>
      </p:sp>
      <p:sp>
        <p:nvSpPr>
          <p:cNvPr id="70" name="Shape 67"/>
          <p:cNvSpPr/>
          <p:nvPr/>
        </p:nvSpPr>
        <p:spPr>
          <a:xfrm>
            <a:off x="914400" y="22631400"/>
            <a:ext cx="19568160" cy="1371600"/>
          </a:xfrm>
          <a:prstGeom prst="roundRect">
            <a:avLst>
              <a:gd name="adj" fmla="val 6667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1188720" y="22631400"/>
            <a:ext cx="19019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completion:  </a:t>
            </a:r>
            <a:pPr indent="0" marL="0">
              <a:buNone/>
            </a:pPr>
            <a:r>
              <a:rPr lang="en-US" sz="2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redeploy and live test call (Dilraj)  →  SMS approval (Prabhjot)  →  Mac mini host (Dilraj)  →  recordings and handover pack (all)  →  journals and interviews (everyone)</a:t>
            </a:r>
            <a:endParaRPr lang="en-US" sz="2100" dirty="0"/>
          </a:p>
        </p:txBody>
      </p:sp>
      <p:sp>
        <p:nvSpPr>
          <p:cNvPr id="72" name="Text 69"/>
          <p:cNvSpPr/>
          <p:nvPr/>
        </p:nvSpPr>
        <p:spPr>
          <a:xfrm>
            <a:off x="914400" y="24185880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we found and fixed</a:t>
            </a:r>
            <a:endParaRPr lang="en-US" sz="2500" dirty="0"/>
          </a:p>
        </p:txBody>
      </p:sp>
      <p:sp>
        <p:nvSpPr>
          <p:cNvPr id="73" name="Text 70"/>
          <p:cNvSpPr/>
          <p:nvPr/>
        </p:nvSpPr>
        <p:spPr>
          <a:xfrm>
            <a:off x="914400" y="24734520"/>
            <a:ext cx="9509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dropped our connection: fixed the hostname we announce</a:t>
            </a:r>
            <a:endParaRPr lang="en-US" sz="2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Forged calls could reach the receptionist: every webhook is signature-checked</a:t>
            </a:r>
            <a:endParaRPr lang="en-US" sz="2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counted every call turn as a call: counts real calls</a:t>
            </a:r>
            <a:endParaRPr lang="en-US" sz="2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showed invented rates: now live data only</a:t>
            </a:r>
            <a:endParaRPr lang="en-US" sz="2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881360" y="24231600"/>
          <a:ext cx="96012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48463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are doing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blocked by carrier registration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 submitted; demo voice and email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host sleeps between visits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Wake it first; backup video ready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 host is cloud, brief says on-premise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On-premise Mac mini in progress; stated openly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tickets did not match the code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Audited every ticket against the code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5" name="Shape 71"/>
          <p:cNvSpPr/>
          <p:nvPr/>
        </p:nvSpPr>
        <p:spPr>
          <a:xfrm>
            <a:off x="914400" y="27596592"/>
            <a:ext cx="731520" cy="7315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76" name="Text 72"/>
          <p:cNvSpPr/>
          <p:nvPr/>
        </p:nvSpPr>
        <p:spPr>
          <a:xfrm>
            <a:off x="914400" y="275965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77" name="Text 73"/>
          <p:cNvSpPr/>
          <p:nvPr/>
        </p:nvSpPr>
        <p:spPr>
          <a:xfrm>
            <a:off x="1874520" y="27569160"/>
            <a:ext cx="1856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Team: everyone owns a part and can answer for it</a:t>
            </a:r>
            <a:endParaRPr lang="en-US" sz="4200" dirty="0"/>
          </a:p>
        </p:txBody>
      </p:sp>
      <p:sp>
        <p:nvSpPr>
          <p:cNvPr id="78" name="Shape 74"/>
          <p:cNvSpPr/>
          <p:nvPr/>
        </p:nvSpPr>
        <p:spPr>
          <a:xfrm>
            <a:off x="914400" y="28529280"/>
            <a:ext cx="4663440" cy="1325880"/>
          </a:xfrm>
          <a:prstGeom prst="roundRect">
            <a:avLst>
              <a:gd name="adj" fmla="val 6897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1051560" y="2852928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Dilraj Singh</a:t>
            </a:r>
            <a:endParaRPr lang="en-US" sz="2200" dirty="0"/>
          </a:p>
          <a:p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owner, lead developer</a:t>
            </a:r>
            <a:endParaRPr lang="en-US" sz="2200" dirty="0"/>
          </a:p>
          <a:p>
            <a:pPr indent="0" marL="0">
              <a:buNone/>
            </a:pPr>
            <a:r>
              <a:rPr lang="en-US" sz="17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about: Hosting, receptionist, call summaries</a:t>
            </a:r>
            <a:endParaRPr lang="en-US" sz="2200" dirty="0"/>
          </a:p>
        </p:txBody>
      </p:sp>
      <p:sp>
        <p:nvSpPr>
          <p:cNvPr id="80" name="Shape 76"/>
          <p:cNvSpPr/>
          <p:nvPr/>
        </p:nvSpPr>
        <p:spPr>
          <a:xfrm>
            <a:off x="5879592" y="28529280"/>
            <a:ext cx="4663440" cy="1325880"/>
          </a:xfrm>
          <a:prstGeom prst="roundRect">
            <a:avLst>
              <a:gd name="adj" fmla="val 6897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1" name="Text 77"/>
          <p:cNvSpPr/>
          <p:nvPr/>
        </p:nvSpPr>
        <p:spPr>
          <a:xfrm>
            <a:off x="6016752" y="2852928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Prabhjot Singh</a:t>
            </a:r>
            <a:endParaRPr lang="en-US" sz="2200" dirty="0"/>
          </a:p>
          <a:p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master, full-stack</a:t>
            </a:r>
            <a:endParaRPr lang="en-US" sz="2200" dirty="0"/>
          </a:p>
          <a:p>
            <a:pPr indent="0" marL="0">
              <a:buNone/>
            </a:pPr>
            <a:r>
              <a:rPr lang="en-US" sz="17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about: Reminder controls, email, webhook security</a:t>
            </a:r>
            <a:endParaRPr lang="en-US" sz="2200" dirty="0"/>
          </a:p>
        </p:txBody>
      </p:sp>
      <p:sp>
        <p:nvSpPr>
          <p:cNvPr id="82" name="Shape 78"/>
          <p:cNvSpPr/>
          <p:nvPr/>
        </p:nvSpPr>
        <p:spPr>
          <a:xfrm>
            <a:off x="10844784" y="28529280"/>
            <a:ext cx="4663440" cy="1325880"/>
          </a:xfrm>
          <a:prstGeom prst="roundRect">
            <a:avLst>
              <a:gd name="adj" fmla="val 6897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10981944" y="2852928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Dhiman Roy</a:t>
            </a:r>
            <a:endParaRPr lang="en-US" sz="2200" dirty="0"/>
          </a:p>
          <a:p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accounts and consent</a:t>
            </a:r>
            <a:endParaRPr lang="en-US" sz="2200" dirty="0"/>
          </a:p>
          <a:p>
            <a:pPr indent="0" marL="0">
              <a:buNone/>
            </a:pPr>
            <a:r>
              <a:rPr lang="en-US" sz="17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about: Templates, rescheduling, roles and API keys</a:t>
            </a:r>
            <a:endParaRPr lang="en-US" sz="2200" dirty="0"/>
          </a:p>
        </p:txBody>
      </p:sp>
      <p:sp>
        <p:nvSpPr>
          <p:cNvPr id="84" name="Shape 80"/>
          <p:cNvSpPr/>
          <p:nvPr/>
        </p:nvSpPr>
        <p:spPr>
          <a:xfrm>
            <a:off x="15809976" y="28529280"/>
            <a:ext cx="4663440" cy="1325880"/>
          </a:xfrm>
          <a:prstGeom prst="roundRect">
            <a:avLst>
              <a:gd name="adj" fmla="val 6897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5" name="Text 81"/>
          <p:cNvSpPr/>
          <p:nvPr/>
        </p:nvSpPr>
        <p:spPr>
          <a:xfrm>
            <a:off x="15947136" y="2852928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Saifur Rahman Bhuiyan</a:t>
            </a:r>
            <a:endParaRPr lang="en-US" sz="2200" dirty="0"/>
          </a:p>
          <a:p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Delivery, analytics, web</a:t>
            </a:r>
            <a:endParaRPr lang="en-US" sz="2200" dirty="0"/>
          </a:p>
          <a:p>
            <a:pPr indent="0" marL="0">
              <a:buNone/>
            </a:pPr>
            <a:r>
              <a:rPr lang="en-US" sz="17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about: Live dashboard, voice languages, site</a:t>
            </a:r>
            <a:endParaRPr lang="en-US" sz="2200" dirty="0"/>
          </a:p>
        </p:txBody>
      </p:sp>
      <p:sp>
        <p:nvSpPr>
          <p:cNvPr id="86" name="Text 82"/>
          <p:cNvSpPr/>
          <p:nvPr/>
        </p:nvSpPr>
        <p:spPr>
          <a:xfrm>
            <a:off x="914400" y="29974032"/>
            <a:ext cx="1956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SQLite · Twilio · Claude · Docker      Demo data is fictional. The target deployment is on-premise.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2026-10-14T16:10:38Z</dcterms:created>
  <dcterms:modified xsi:type="dcterms:W3CDTF">2026-10-14T16:10:38Z</dcterms:modified>
</cp:coreProperties>
</file>