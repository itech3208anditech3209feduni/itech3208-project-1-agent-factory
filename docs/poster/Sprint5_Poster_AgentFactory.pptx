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283464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1280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FACTORY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2880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Reminders that respect consent, and an AI receptionist that answers the phone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2880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ITECH3208 / 3209  ·  Federation University  ·  Client: Zakir Ullah Shah  ·  Sprint 5 poster session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+ CRM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620256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C9A227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9984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STOP, quiet hours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508992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0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engine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 sends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8397728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507456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SMS, voice, email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and SMTP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4286464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396192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receptionist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FAQ, handoff, booking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25896" y="3794760"/>
            <a:ext cx="54864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1914632" y="3794760"/>
            <a:ext cx="54864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7803368" y="3794760"/>
            <a:ext cx="54864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3692104" y="3794760"/>
            <a:ext cx="54864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1520" y="4818888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60020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definition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31520" y="571500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" y="6172200"/>
            <a:ext cx="9235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clinics, salons and trades reminders that never message anyone who has not opted in, and an AI receptionist that answers their phone, on one platform they control.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731520" y="81381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31520" y="8595360"/>
            <a:ext cx="9235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businesses lose bookings to no-shows and missed calls, and cannot risk messaging people who never agreed to be contacted.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1010412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goals (each one checkable)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31520" y="1065276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gaps found against the client brief: reminder controls, templates, rescheduling, call summaries, site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183880" y="10835640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8183880" y="108356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31520" y="11585448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delivery end to end: an email reminder lands on time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8183880" y="11768328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33" name="Text 31"/>
          <p:cNvSpPr/>
          <p:nvPr/>
        </p:nvSpPr>
        <p:spPr>
          <a:xfrm>
            <a:off x="8183880" y="11768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1520" y="12518136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each organisation's data separate: activity, analytics, exports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8183880" y="12701016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36" name="Text 34"/>
          <p:cNvSpPr/>
          <p:nvPr/>
        </p:nvSpPr>
        <p:spPr>
          <a:xfrm>
            <a:off x="8183880" y="1270101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31520" y="13450824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SMS delivery: Twilio registration is in review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8183880" y="13633704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A9701B"/>
          </a:solidFill>
          <a:ln/>
        </p:spPr>
      </p:sp>
      <p:sp>
        <p:nvSpPr>
          <p:cNvPr id="39" name="Text 37"/>
          <p:cNvSpPr/>
          <p:nvPr/>
        </p:nvSpPr>
        <p:spPr>
          <a:xfrm>
            <a:off x="8183880" y="1363370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31520" y="14557248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145572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1600200" y="1453896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integration and Q&amp;A</a:t>
            </a:r>
            <a:endParaRPr lang="en-US" sz="3000" dirty="0"/>
          </a:p>
        </p:txBody>
      </p:sp>
      <p:sp>
        <p:nvSpPr>
          <p:cNvPr id="43" name="Shape 41"/>
          <p:cNvSpPr/>
          <p:nvPr/>
        </p:nvSpPr>
        <p:spPr>
          <a:xfrm>
            <a:off x="731520" y="15407640"/>
            <a:ext cx="9235440" cy="1097280"/>
          </a:xfrm>
          <a:prstGeom prst="roundRect">
            <a:avLst>
              <a:gd name="adj" fmla="val 8333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15407640"/>
            <a:ext cx="8869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Dilraj Singh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owner, lead developer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Receptionist, call summaries, cloud setup</a:t>
            </a:r>
            <a:endParaRPr lang="en-US" sz="2200" dirty="0"/>
          </a:p>
        </p:txBody>
      </p:sp>
      <p:sp>
        <p:nvSpPr>
          <p:cNvPr id="45" name="Shape 43"/>
          <p:cNvSpPr/>
          <p:nvPr/>
        </p:nvSpPr>
        <p:spPr>
          <a:xfrm>
            <a:off x="731520" y="16596360"/>
            <a:ext cx="9235440" cy="1097280"/>
          </a:xfrm>
          <a:prstGeom prst="roundRect">
            <a:avLst>
              <a:gd name="adj" fmla="val 8333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16596360"/>
            <a:ext cx="8869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Prabhjot Singh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master, full-stack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Reminder controls, email, webhook security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731520" y="17785080"/>
            <a:ext cx="9235440" cy="1097280"/>
          </a:xfrm>
          <a:prstGeom prst="roundRect">
            <a:avLst>
              <a:gd name="adj" fmla="val 8333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17785080"/>
            <a:ext cx="8869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Dhiman Roy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accounts and consent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Templates, rescheduling, roles and API keys</a:t>
            </a:r>
            <a:endParaRPr lang="en-US" sz="2200" dirty="0"/>
          </a:p>
        </p:txBody>
      </p:sp>
      <p:sp>
        <p:nvSpPr>
          <p:cNvPr id="49" name="Shape 47"/>
          <p:cNvSpPr/>
          <p:nvPr/>
        </p:nvSpPr>
        <p:spPr>
          <a:xfrm>
            <a:off x="731520" y="18973800"/>
            <a:ext cx="9235440" cy="1097280"/>
          </a:xfrm>
          <a:prstGeom prst="roundRect">
            <a:avLst>
              <a:gd name="adj" fmla="val 8333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18973800"/>
            <a:ext cx="8869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Saifur Rahman Bhuiyan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analytics, web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Live dashboard, voice languages, site</a:t>
            </a:r>
            <a:endParaRPr lang="en-US" sz="2200" dirty="0"/>
          </a:p>
        </p:txBody>
      </p:sp>
      <p:sp>
        <p:nvSpPr>
          <p:cNvPr id="51" name="Shape 49"/>
          <p:cNvSpPr/>
          <p:nvPr/>
        </p:nvSpPr>
        <p:spPr>
          <a:xfrm>
            <a:off x="10515600" y="4818888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2" name="Text 50"/>
          <p:cNvSpPr/>
          <p:nvPr/>
        </p:nvSpPr>
        <p:spPr>
          <a:xfrm>
            <a:off x="1051560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1138428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status and demo</a:t>
            </a:r>
            <a:endParaRPr lang="en-US" sz="3000" dirty="0"/>
          </a:p>
        </p:txBody>
      </p:sp>
      <p:sp>
        <p:nvSpPr>
          <p:cNvPr id="54" name="Text 52"/>
          <p:cNvSpPr/>
          <p:nvPr/>
        </p:nvSpPr>
        <p:spPr>
          <a:xfrm>
            <a:off x="10515600" y="56692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2400" dirty="0"/>
          </a:p>
        </p:txBody>
      </p:sp>
      <p:pic>
        <p:nvPicPr>
          <p:cNvPr id="55" name="Image 0" descr="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6263640"/>
            <a:ext cx="3200400" cy="3200400"/>
          </a:xfrm>
          <a:prstGeom prst="rect">
            <a:avLst/>
          </a:prstGeom>
        </p:spPr>
      </p:pic>
      <p:sp>
        <p:nvSpPr>
          <p:cNvPr id="56" name="Text 53"/>
          <p:cNvSpPr/>
          <p:nvPr/>
        </p:nvSpPr>
        <p:spPr>
          <a:xfrm>
            <a:off x="10515600" y="94823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</a:t>
            </a:r>
            <a:endParaRPr lang="en-US" sz="2000" dirty="0"/>
          </a:p>
        </p:txBody>
      </p:sp>
      <p:sp>
        <p:nvSpPr>
          <p:cNvPr id="57" name="Text 54"/>
          <p:cNvSpPr/>
          <p:nvPr/>
        </p:nvSpPr>
        <p:spPr>
          <a:xfrm>
            <a:off x="13990320" y="6263640"/>
            <a:ext cx="5760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Scan the code for our website, tap Open Web UI, sign in (ask us for the login)</a:t>
            </a:r>
            <a:endParaRPr lang="en-US" sz="2300" dirty="0"/>
          </a:p>
        </p:txBody>
      </p:sp>
      <p:sp>
        <p:nvSpPr>
          <p:cNvPr id="58" name="Text 55"/>
          <p:cNvSpPr/>
          <p:nvPr/>
        </p:nvSpPr>
        <p:spPr>
          <a:xfrm>
            <a:off x="10515600" y="10058400"/>
            <a:ext cx="9235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Contacts tab: opted-in and opted-out people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Reminders tab: opted-out contacts and past dates are refused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Call +1 802 444 8729: ask the hours, then say goodbye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Activity tab: the call, with its summary, sentiment and priority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MyAI tab: ask how to add a contact, or preview a patient chat</a:t>
            </a:r>
            <a:endParaRPr lang="en-US" sz="2200" dirty="0"/>
          </a:p>
        </p:txBody>
      </p:sp>
      <p:sp>
        <p:nvSpPr>
          <p:cNvPr id="59" name="Shape 56"/>
          <p:cNvSpPr/>
          <p:nvPr/>
        </p:nvSpPr>
        <p:spPr>
          <a:xfrm>
            <a:off x="10515600" y="13853160"/>
            <a:ext cx="4480560" cy="1463040"/>
          </a:xfrm>
          <a:prstGeom prst="roundRect">
            <a:avLst>
              <a:gd name="adj" fmla="val 625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0698480" y="138805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761</a:t>
            </a:r>
            <a:endParaRPr lang="en-US" sz="3400" dirty="0"/>
          </a:p>
        </p:txBody>
      </p:sp>
      <p:sp>
        <p:nvSpPr>
          <p:cNvPr id="61" name="Text 58"/>
          <p:cNvSpPr/>
          <p:nvPr/>
        </p:nvSpPr>
        <p:spPr>
          <a:xfrm>
            <a:off x="10698480" y="145663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run by CI on every change</a:t>
            </a:r>
            <a:endParaRPr lang="en-US" sz="1700" dirty="0"/>
          </a:p>
        </p:txBody>
      </p:sp>
      <p:sp>
        <p:nvSpPr>
          <p:cNvPr id="62" name="Shape 59"/>
          <p:cNvSpPr/>
          <p:nvPr/>
        </p:nvSpPr>
        <p:spPr>
          <a:xfrm>
            <a:off x="15270480" y="13853160"/>
            <a:ext cx="4480560" cy="1463040"/>
          </a:xfrm>
          <a:prstGeom prst="roundRect">
            <a:avLst>
              <a:gd name="adj" fmla="val 625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5453360" y="138805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403</a:t>
            </a:r>
            <a:endParaRPr lang="en-US" sz="3400" dirty="0"/>
          </a:p>
        </p:txBody>
      </p:sp>
      <p:sp>
        <p:nvSpPr>
          <p:cNvPr id="64" name="Text 61"/>
          <p:cNvSpPr/>
          <p:nvPr/>
        </p:nvSpPr>
        <p:spPr>
          <a:xfrm>
            <a:off x="15453360" y="145663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any forged Twilio call</a:t>
            </a:r>
            <a:endParaRPr lang="en-US" sz="1700" dirty="0"/>
          </a:p>
        </p:txBody>
      </p:sp>
      <p:sp>
        <p:nvSpPr>
          <p:cNvPr id="65" name="Shape 62"/>
          <p:cNvSpPr/>
          <p:nvPr/>
        </p:nvSpPr>
        <p:spPr>
          <a:xfrm>
            <a:off x="10515600" y="15453360"/>
            <a:ext cx="4480560" cy="1463040"/>
          </a:xfrm>
          <a:prstGeom prst="roundRect">
            <a:avLst>
              <a:gd name="adj" fmla="val 625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0698480" y="15480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s</a:t>
            </a:r>
            <a:endParaRPr lang="en-US" sz="3400" dirty="0"/>
          </a:p>
        </p:txBody>
      </p:sp>
      <p:sp>
        <p:nvSpPr>
          <p:cNvPr id="67" name="Text 64"/>
          <p:cNvSpPr/>
          <p:nvPr/>
        </p:nvSpPr>
        <p:spPr>
          <a:xfrm>
            <a:off x="10698480" y="161665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reminder arrived after its send time</a:t>
            </a:r>
            <a:endParaRPr lang="en-US" sz="1700" dirty="0"/>
          </a:p>
        </p:txBody>
      </p:sp>
      <p:sp>
        <p:nvSpPr>
          <p:cNvPr id="68" name="Shape 65"/>
          <p:cNvSpPr/>
          <p:nvPr/>
        </p:nvSpPr>
        <p:spPr>
          <a:xfrm>
            <a:off x="15270480" y="15453360"/>
            <a:ext cx="4480560" cy="1463040"/>
          </a:xfrm>
          <a:prstGeom prst="roundRect">
            <a:avLst>
              <a:gd name="adj" fmla="val 625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5453360" y="15480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3400" dirty="0"/>
          </a:p>
        </p:txBody>
      </p:sp>
      <p:sp>
        <p:nvSpPr>
          <p:cNvPr id="70" name="Text 67"/>
          <p:cNvSpPr/>
          <p:nvPr/>
        </p:nvSpPr>
        <p:spPr>
          <a:xfrm>
            <a:off x="15453360" y="161665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call answered by voice</a:t>
            </a:r>
            <a:endParaRPr lang="en-US" sz="1700" dirty="0"/>
          </a:p>
        </p:txBody>
      </p:sp>
      <p:sp>
        <p:nvSpPr>
          <p:cNvPr id="71" name="Text 68"/>
          <p:cNvSpPr/>
          <p:nvPr/>
        </p:nvSpPr>
        <p:spPr>
          <a:xfrm>
            <a:off x="10515600" y="1723644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found and fixed</a:t>
            </a:r>
            <a:endParaRPr lang="en-US" sz="2400" dirty="0"/>
          </a:p>
        </p:txBody>
      </p:sp>
      <p:sp>
        <p:nvSpPr>
          <p:cNvPr id="72" name="Text 69"/>
          <p:cNvSpPr/>
          <p:nvPr/>
        </p:nvSpPr>
        <p:spPr>
          <a:xfrm>
            <a:off x="10515600" y="17739360"/>
            <a:ext cx="9235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dropped our connection: fixed the hostname we announce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calls could reach the receptionist: every webhook is signature-checked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counted every call turn as a call: counts real calls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showed invented rates: now live data only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Reminder only wrote a log row: it now really sends</a:t>
            </a:r>
            <a:endParaRPr lang="en-US" sz="1700" dirty="0"/>
          </a:p>
        </p:txBody>
      </p:sp>
      <p:sp>
        <p:nvSpPr>
          <p:cNvPr id="73" name="Shape 70"/>
          <p:cNvSpPr/>
          <p:nvPr/>
        </p:nvSpPr>
        <p:spPr>
          <a:xfrm>
            <a:off x="20299680" y="4818888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4" name="Text 71"/>
          <p:cNvSpPr/>
          <p:nvPr/>
        </p:nvSpPr>
        <p:spPr>
          <a:xfrm>
            <a:off x="2029968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75" name="Text 72"/>
          <p:cNvSpPr/>
          <p:nvPr/>
        </p:nvSpPr>
        <p:spPr>
          <a:xfrm>
            <a:off x="2116836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and problem solving</a:t>
            </a:r>
            <a:endParaRPr lang="en-US" sz="3000" dirty="0"/>
          </a:p>
        </p:txBody>
      </p:sp>
      <p:sp>
        <p:nvSpPr>
          <p:cNvPr id="76" name="Shape 73"/>
          <p:cNvSpPr/>
          <p:nvPr/>
        </p:nvSpPr>
        <p:spPr>
          <a:xfrm>
            <a:off x="20299680" y="5715000"/>
            <a:ext cx="92354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38100">
            <a:solidFill>
              <a:srgbClr val="2E7D5B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20574000" y="5824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and live</a:t>
            </a:r>
            <a:endParaRPr lang="en-US" sz="2400" dirty="0"/>
          </a:p>
        </p:txBody>
      </p:sp>
      <p:sp>
        <p:nvSpPr>
          <p:cNvPr id="78" name="Text 75"/>
          <p:cNvSpPr/>
          <p:nvPr/>
        </p:nvSpPr>
        <p:spPr>
          <a:xfrm>
            <a:off x="20574000" y="6446520"/>
            <a:ext cx="8686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contacts, CSV import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STOP, quiet hours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Reminders: repeat, pause, templates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receptionist, call summaries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API keys, MyAI help</a:t>
            </a:r>
            <a:endParaRPr lang="en-US" sz="2200" dirty="0"/>
          </a:p>
        </p:txBody>
      </p:sp>
      <p:sp>
        <p:nvSpPr>
          <p:cNvPr id="79" name="Shape 76"/>
          <p:cNvSpPr/>
          <p:nvPr/>
        </p:nvSpPr>
        <p:spPr>
          <a:xfrm>
            <a:off x="20299680" y="9144000"/>
            <a:ext cx="92354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38100">
            <a:solidFill>
              <a:srgbClr val="A9701B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20574000" y="9253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7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2400" dirty="0"/>
          </a:p>
        </p:txBody>
      </p:sp>
      <p:sp>
        <p:nvSpPr>
          <p:cNvPr id="81" name="Text 78"/>
          <p:cNvSpPr/>
          <p:nvPr/>
        </p:nvSpPr>
        <p:spPr>
          <a:xfrm>
            <a:off x="20574000" y="9875520"/>
            <a:ext cx="8686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SMS: Twilio registration in review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kept across restarts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checks with a live call</a:t>
            </a:r>
            <a:endParaRPr lang="en-US" sz="2200" dirty="0"/>
          </a:p>
        </p:txBody>
      </p:sp>
      <p:sp>
        <p:nvSpPr>
          <p:cNvPr id="82" name="Shape 79"/>
          <p:cNvSpPr/>
          <p:nvPr/>
        </p:nvSpPr>
        <p:spPr>
          <a:xfrm>
            <a:off x="20299680" y="11750040"/>
            <a:ext cx="92354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38100">
            <a:solidFill>
              <a:srgbClr val="1B2A49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20574000" y="1185976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do</a:t>
            </a:r>
            <a:endParaRPr lang="en-US" sz="2400" dirty="0"/>
          </a:p>
        </p:txBody>
      </p:sp>
      <p:sp>
        <p:nvSpPr>
          <p:cNvPr id="84" name="Text 81"/>
          <p:cNvSpPr/>
          <p:nvPr/>
        </p:nvSpPr>
        <p:spPr>
          <a:xfrm>
            <a:off x="20574000" y="12481560"/>
            <a:ext cx="8686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handover pack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Journals and interviews</a:t>
            </a:r>
            <a:endParaRPr lang="en-US" sz="2200" dirty="0"/>
          </a:p>
        </p:txBody>
      </p:sp>
      <p:sp>
        <p:nvSpPr>
          <p:cNvPr id="85" name="Shape 82"/>
          <p:cNvSpPr/>
          <p:nvPr/>
        </p:nvSpPr>
        <p:spPr>
          <a:xfrm>
            <a:off x="20299680" y="14401800"/>
            <a:ext cx="9235440" cy="2103120"/>
          </a:xfrm>
          <a:prstGeom prst="roundRect">
            <a:avLst>
              <a:gd name="adj" fmla="val 434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0574000" y="14401800"/>
            <a:ext cx="8686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completion:  </a:t>
            </a:r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 call (Dilraj)  →  SMS approval (Prabhjot)  →  recordings and handover pack (all)  →  journals and interviews (everyone)</a:t>
            </a:r>
            <a:endParaRPr lang="en-US" sz="2100" dirty="0"/>
          </a:p>
        </p:txBody>
      </p:sp>
      <p:sp>
        <p:nvSpPr>
          <p:cNvPr id="87" name="Text 84"/>
          <p:cNvSpPr/>
          <p:nvPr/>
        </p:nvSpPr>
        <p:spPr>
          <a:xfrm>
            <a:off x="20299680" y="1673352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what we are doing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299680" y="17282160"/>
          <a:ext cx="92354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4754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are doing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waits on Twilio registration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review; voice and email work now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 needs a 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recording ready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data must stay private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first; each organisation separate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tickets did not match the code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Audited every ticket against the code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 85"/>
          <p:cNvSpPr/>
          <p:nvPr/>
        </p:nvSpPr>
        <p:spPr>
          <a:xfrm>
            <a:off x="731520" y="20985480"/>
            <a:ext cx="2880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SQLite · Twilio · Claude · Docker      Cloud based. Demo clinic and data are fictional.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2026-10-14T18:22:35Z</dcterms:created>
  <dcterms:modified xsi:type="dcterms:W3CDTF">2026-10-14T18:22:35Z</dcterms:modified>
</cp:coreProperties>
</file>