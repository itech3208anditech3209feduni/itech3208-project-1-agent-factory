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21387816" cy="30275784"/>
  <p:notesSz cx="30275784" cy="2138781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1387816" cy="4114800"/>
          </a:xfrm>
          <a:prstGeom prst="rect">
            <a:avLst/>
          </a:prstGeom>
          <a:solidFill>
            <a:srgbClr val="1B2A49"/>
          </a:solidFill>
          <a:ln/>
        </p:spPr>
      </p:sp>
      <p:sp>
        <p:nvSpPr>
          <p:cNvPr id="3" name="Text 1"/>
          <p:cNvSpPr/>
          <p:nvPr/>
        </p:nvSpPr>
        <p:spPr>
          <a:xfrm>
            <a:off x="914400" y="457200"/>
            <a:ext cx="12801600" cy="640080"/>
          </a:xfrm>
          <a:prstGeom prst="rect">
            <a:avLst/>
          </a:prstGeom>
          <a:noFill/>
          <a:ln/>
        </p:spPr>
        <p:txBody>
          <a:bodyPr wrap="square" lIns="0" tIns="0" rIns="0" bIns="0" rtlCol="0" anchor="ctr"/>
          <a:lstStyle/>
          <a:p>
            <a:pPr indent="0" marL="0">
              <a:buNone/>
            </a:pPr>
            <a:r>
              <a:rPr lang="en-US" sz="3000" b="1" spc="600" kern="0" dirty="0">
                <a:solidFill>
                  <a:srgbClr val="C9A227"/>
                </a:solidFill>
                <a:latin typeface="Calibri" pitchFamily="34" charset="0"/>
                <a:ea typeface="Calibri" pitchFamily="34" charset="-122"/>
                <a:cs typeface="Calibri" pitchFamily="34" charset="-120"/>
              </a:rPr>
              <a:t>AGENT FACTORY</a:t>
            </a:r>
            <a:endParaRPr lang="en-US" sz="3000" dirty="0"/>
          </a:p>
        </p:txBody>
      </p:sp>
      <p:sp>
        <p:nvSpPr>
          <p:cNvPr id="4" name="Text 2"/>
          <p:cNvSpPr/>
          <p:nvPr/>
        </p:nvSpPr>
        <p:spPr>
          <a:xfrm>
            <a:off x="914400" y="1188720"/>
            <a:ext cx="19568160" cy="2103120"/>
          </a:xfrm>
          <a:prstGeom prst="rect">
            <a:avLst/>
          </a:prstGeom>
          <a:noFill/>
          <a:ln/>
        </p:spPr>
        <p:txBody>
          <a:bodyPr wrap="square" lIns="0" tIns="0" rIns="0" bIns="0" rtlCol="0" anchor="t"/>
          <a:lstStyle/>
          <a:p>
            <a:pPr indent="0" marL="0">
              <a:buNone/>
            </a:pPr>
            <a:r>
              <a:rPr lang="en-US" sz="5600" b="1" dirty="0">
                <a:solidFill>
                  <a:srgbClr val="FFFFFF"/>
                </a:solidFill>
                <a:latin typeface="Cambria" pitchFamily="34" charset="0"/>
                <a:ea typeface="Cambria" pitchFamily="34" charset="-122"/>
                <a:cs typeface="Cambria" pitchFamily="34" charset="-120"/>
              </a:rPr>
              <a:t>Reminders that respect consent, and an AI receptionist that answers the phone</a:t>
            </a:r>
            <a:endParaRPr lang="en-US" sz="5600" dirty="0"/>
          </a:p>
        </p:txBody>
      </p:sp>
      <p:sp>
        <p:nvSpPr>
          <p:cNvPr id="5" name="Text 3"/>
          <p:cNvSpPr/>
          <p:nvPr/>
        </p:nvSpPr>
        <p:spPr>
          <a:xfrm>
            <a:off x="914400" y="3383280"/>
            <a:ext cx="19568160" cy="548640"/>
          </a:xfrm>
          <a:prstGeom prst="rect">
            <a:avLst/>
          </a:prstGeom>
          <a:noFill/>
          <a:ln/>
        </p:spPr>
        <p:txBody>
          <a:bodyPr wrap="square" lIns="0" tIns="0" rIns="0" bIns="0" rtlCol="0" anchor="ctr"/>
          <a:lstStyle/>
          <a:p>
            <a:pPr indent="0" marL="0">
              <a:buNone/>
            </a:pPr>
            <a:r>
              <a:rPr lang="en-US" sz="2600" dirty="0">
                <a:solidFill>
                  <a:srgbClr val="D9DEE9"/>
                </a:solidFill>
                <a:latin typeface="Calibri" pitchFamily="34" charset="0"/>
                <a:ea typeface="Calibri" pitchFamily="34" charset="-122"/>
                <a:cs typeface="Calibri" pitchFamily="34" charset="-120"/>
              </a:rPr>
              <a:t>ITECH3208 / 3209  ·  Federation University  ·  Client: Zakir Ullah Shah  ·  Sprint 5 poster session</a:t>
            </a:r>
            <a:endParaRPr lang="en-US" sz="2600" dirty="0"/>
          </a:p>
        </p:txBody>
      </p:sp>
      <p:sp>
        <p:nvSpPr>
          <p:cNvPr id="6" name="Shape 4"/>
          <p:cNvSpPr/>
          <p:nvPr/>
        </p:nvSpPr>
        <p:spPr>
          <a:xfrm>
            <a:off x="914400" y="4526280"/>
            <a:ext cx="777240" cy="777240"/>
          </a:xfrm>
          <a:prstGeom prst="ellipse">
            <a:avLst/>
          </a:prstGeom>
          <a:solidFill>
            <a:srgbClr val="C9A227"/>
          </a:solidFill>
          <a:ln/>
        </p:spPr>
      </p:sp>
      <p:sp>
        <p:nvSpPr>
          <p:cNvPr id="7" name="Text 5"/>
          <p:cNvSpPr/>
          <p:nvPr/>
        </p:nvSpPr>
        <p:spPr>
          <a:xfrm>
            <a:off x="914400" y="45262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1</a:t>
            </a:r>
            <a:endParaRPr lang="en-US" sz="3200" dirty="0"/>
          </a:p>
        </p:txBody>
      </p:sp>
      <p:sp>
        <p:nvSpPr>
          <p:cNvPr id="8" name="Text 6"/>
          <p:cNvSpPr/>
          <p:nvPr/>
        </p:nvSpPr>
        <p:spPr>
          <a:xfrm>
            <a:off x="1920240" y="44805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Project and sprint goals</a:t>
            </a:r>
            <a:endParaRPr lang="en-US" sz="4600" dirty="0"/>
          </a:p>
        </p:txBody>
      </p:sp>
      <p:sp>
        <p:nvSpPr>
          <p:cNvPr id="9" name="Text 7"/>
          <p:cNvSpPr/>
          <p:nvPr/>
        </p:nvSpPr>
        <p:spPr>
          <a:xfrm>
            <a:off x="914400" y="5486400"/>
            <a:ext cx="9509760" cy="548640"/>
          </a:xfrm>
          <a:prstGeom prst="rect">
            <a:avLst/>
          </a:prstGeom>
          <a:noFill/>
          <a:ln/>
        </p:spPr>
        <p:txBody>
          <a:bodyPr wrap="square" lIns="0" tIns="0" rIns="0" bIns="0" rtlCol="0" anchor="ctr"/>
          <a:lstStyle/>
          <a:p>
            <a:pPr indent="0" marL="0">
              <a:buNone/>
            </a:pPr>
            <a:r>
              <a:rPr lang="en-US" sz="3000" b="1" dirty="0">
                <a:solidFill>
                  <a:srgbClr val="C9A227"/>
                </a:solidFill>
                <a:latin typeface="Calibri" pitchFamily="34" charset="0"/>
                <a:ea typeface="Calibri" pitchFamily="34" charset="-122"/>
                <a:cs typeface="Calibri" pitchFamily="34" charset="-120"/>
              </a:rPr>
              <a:t>Project goal</a:t>
            </a:r>
            <a:endParaRPr lang="en-US" sz="3000" dirty="0"/>
          </a:p>
        </p:txBody>
      </p:sp>
      <p:sp>
        <p:nvSpPr>
          <p:cNvPr id="10" name="Text 8"/>
          <p:cNvSpPr/>
          <p:nvPr/>
        </p:nvSpPr>
        <p:spPr>
          <a:xfrm>
            <a:off x="914400" y="6080760"/>
            <a:ext cx="9509760" cy="3017520"/>
          </a:xfrm>
          <a:prstGeom prst="rect">
            <a:avLst/>
          </a:prstGeom>
          <a:noFill/>
          <a:ln/>
        </p:spPr>
        <p:txBody>
          <a:bodyPr wrap="square" lIns="0" tIns="0" rIns="0" bIns="0" rtlCol="0" anchor="t"/>
          <a:lstStyle/>
          <a:p>
            <a:pPr indent="0" marL="0">
              <a:buNone/>
            </a:pPr>
            <a:r>
              <a:rPr lang="en-US" sz="3000" dirty="0">
                <a:solidFill>
                  <a:srgbClr val="14213D"/>
                </a:solidFill>
                <a:latin typeface="Calibri" pitchFamily="34" charset="0"/>
                <a:ea typeface="Calibri" pitchFamily="34" charset="-122"/>
                <a:cs typeface="Calibri" pitchFamily="34" charset="-120"/>
              </a:rPr>
              <a:t>Intelligent, privacy-first communication for service businesses. An organisation registers, manages contacts who have opted in, and schedules reminders that go out by SMS, voice and email. An AI receptionist answers calls on the same platform.</a:t>
            </a:r>
            <a:endParaRPr lang="en-US" sz="3000" dirty="0"/>
          </a:p>
        </p:txBody>
      </p:sp>
      <p:sp>
        <p:nvSpPr>
          <p:cNvPr id="11" name="Text 9"/>
          <p:cNvSpPr/>
          <p:nvPr/>
        </p:nvSpPr>
        <p:spPr>
          <a:xfrm>
            <a:off x="11155680" y="5486400"/>
            <a:ext cx="9326880" cy="548640"/>
          </a:xfrm>
          <a:prstGeom prst="rect">
            <a:avLst/>
          </a:prstGeom>
          <a:noFill/>
          <a:ln/>
        </p:spPr>
        <p:txBody>
          <a:bodyPr wrap="square" lIns="0" tIns="0" rIns="0" bIns="0" rtlCol="0" anchor="ctr"/>
          <a:lstStyle/>
          <a:p>
            <a:pPr indent="0" marL="0">
              <a:buNone/>
            </a:pPr>
            <a:r>
              <a:rPr lang="en-US" sz="3000" b="1" dirty="0">
                <a:solidFill>
                  <a:srgbClr val="C9A227"/>
                </a:solidFill>
                <a:latin typeface="Calibri" pitchFamily="34" charset="0"/>
                <a:ea typeface="Calibri" pitchFamily="34" charset="-122"/>
                <a:cs typeface="Calibri" pitchFamily="34" charset="-120"/>
              </a:rPr>
              <a:t>Sprint 5 goals</a:t>
            </a:r>
            <a:endParaRPr lang="en-US" sz="3000" dirty="0"/>
          </a:p>
        </p:txBody>
      </p:sp>
      <p:sp>
        <p:nvSpPr>
          <p:cNvPr id="12" name="Text 10"/>
          <p:cNvSpPr/>
          <p:nvPr/>
        </p:nvSpPr>
        <p:spPr>
          <a:xfrm>
            <a:off x="11155680" y="6080760"/>
            <a:ext cx="9326880" cy="3017520"/>
          </a:xfrm>
          <a:prstGeom prst="rect">
            <a:avLst/>
          </a:prstGeom>
          <a:noFill/>
          <a:ln/>
        </p:spPr>
        <p:txBody>
          <a:bodyPr wrap="square" lIns="0" tIns="0" rIns="0" bIns="0" rtlCol="0" anchor="t"/>
          <a:lstStyle/>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Put a live, reachable demo online</a:t>
            </a:r>
            <a:endParaRPr lang="en-US" sz="3200" dirty="0"/>
          </a:p>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Close the gaps we found against the client brief</a:t>
            </a:r>
            <a:endParaRPr lang="en-US" sz="3200" dirty="0"/>
          </a:p>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Show a working demo and an honest roadmap</a:t>
            </a:r>
            <a:endParaRPr lang="en-US" sz="3200" dirty="0"/>
          </a:p>
        </p:txBody>
      </p:sp>
      <p:sp>
        <p:nvSpPr>
          <p:cNvPr id="13" name="Shape 11"/>
          <p:cNvSpPr/>
          <p:nvPr/>
        </p:nvSpPr>
        <p:spPr>
          <a:xfrm>
            <a:off x="914400" y="9555480"/>
            <a:ext cx="777240" cy="777240"/>
          </a:xfrm>
          <a:prstGeom prst="ellipse">
            <a:avLst/>
          </a:prstGeom>
          <a:solidFill>
            <a:srgbClr val="C9A227"/>
          </a:solidFill>
          <a:ln/>
        </p:spPr>
      </p:sp>
      <p:sp>
        <p:nvSpPr>
          <p:cNvPr id="14" name="Text 12"/>
          <p:cNvSpPr/>
          <p:nvPr/>
        </p:nvSpPr>
        <p:spPr>
          <a:xfrm>
            <a:off x="914400" y="95554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2</a:t>
            </a:r>
            <a:endParaRPr lang="en-US" sz="3200" dirty="0"/>
          </a:p>
        </p:txBody>
      </p:sp>
      <p:sp>
        <p:nvSpPr>
          <p:cNvPr id="15" name="Text 13"/>
          <p:cNvSpPr/>
          <p:nvPr/>
        </p:nvSpPr>
        <p:spPr>
          <a:xfrm>
            <a:off x="1920240" y="95097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Demo: try it now</a:t>
            </a:r>
            <a:endParaRPr lang="en-US" sz="4600" dirty="0"/>
          </a:p>
        </p:txBody>
      </p:sp>
      <p:sp>
        <p:nvSpPr>
          <p:cNvPr id="16" name="Text 14"/>
          <p:cNvSpPr/>
          <p:nvPr/>
        </p:nvSpPr>
        <p:spPr>
          <a:xfrm>
            <a:off x="914400" y="10515600"/>
            <a:ext cx="13624560" cy="4206240"/>
          </a:xfrm>
          <a:prstGeom prst="rect">
            <a:avLst/>
          </a:prstGeom>
          <a:noFill/>
          <a:ln/>
        </p:spPr>
        <p:txBody>
          <a:bodyPr wrap="square" lIns="0" tIns="0" rIns="0" bIns="0" rtlCol="0" anchor="t"/>
          <a:lstStyle/>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1.  Scan the code and sign in (ask us for the demo login)</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2.  Contacts: see who has opted in and who has opted out</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3.  Schedule a reminder: the consent gate blocks opted-out contacts</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4.  Call +1 802 444 8729 and ask what we offer</a:t>
            </a:r>
            <a:endParaRPr lang="en-US" sz="3200" dirty="0"/>
          </a:p>
        </p:txBody>
      </p:sp>
      <p:pic>
        <p:nvPicPr>
          <p:cNvPr id="17" name="Image 0" descr="qr.png">    </p:cNvPr>
          <p:cNvPicPr>
            <a:picLocks noChangeAspect="1"/>
          </p:cNvPicPr>
          <p:nvPr/>
        </p:nvPicPr>
        <p:blipFill>
          <a:blip r:embed="rId1"/>
          <a:stretch>
            <a:fillRect/>
          </a:stretch>
        </p:blipFill>
        <p:spPr>
          <a:xfrm>
            <a:off x="14996160" y="10424160"/>
            <a:ext cx="3840480" cy="3840480"/>
          </a:xfrm>
          <a:prstGeom prst="rect">
            <a:avLst/>
          </a:prstGeom>
        </p:spPr>
      </p:pic>
      <p:sp>
        <p:nvSpPr>
          <p:cNvPr id="18" name="Text 15"/>
          <p:cNvSpPr/>
          <p:nvPr/>
        </p:nvSpPr>
        <p:spPr>
          <a:xfrm>
            <a:off x="14996160" y="14310360"/>
            <a:ext cx="3840480" cy="457200"/>
          </a:xfrm>
          <a:prstGeom prst="rect">
            <a:avLst/>
          </a:prstGeom>
          <a:noFill/>
          <a:ln/>
        </p:spPr>
        <p:txBody>
          <a:bodyPr wrap="square" lIns="0" tIns="0" rIns="0" bIns="0" rtlCol="0" anchor="ctr"/>
          <a:lstStyle/>
          <a:p>
            <a:pPr algn="ctr" indent="0" marL="0">
              <a:buNone/>
            </a:pPr>
            <a:r>
              <a:rPr lang="en-US" sz="2400" b="1" dirty="0">
                <a:solidFill>
                  <a:srgbClr val="1B2A49"/>
                </a:solidFill>
                <a:latin typeface="Calibri" pitchFamily="34" charset="0"/>
                <a:ea typeface="Calibri" pitchFamily="34" charset="-122"/>
                <a:cs typeface="Calibri" pitchFamily="34" charset="-120"/>
              </a:rPr>
              <a:t>Live demo</a:t>
            </a:r>
            <a:endParaRPr lang="en-US" sz="2400" dirty="0"/>
          </a:p>
        </p:txBody>
      </p:sp>
      <p:sp>
        <p:nvSpPr>
          <p:cNvPr id="19" name="Shape 16"/>
          <p:cNvSpPr/>
          <p:nvPr/>
        </p:nvSpPr>
        <p:spPr>
          <a:xfrm>
            <a:off x="914400" y="14996160"/>
            <a:ext cx="3474720" cy="1554480"/>
          </a:xfrm>
          <a:prstGeom prst="roundRect">
            <a:avLst>
              <a:gd name="adj" fmla="val 7059"/>
            </a:avLst>
          </a:prstGeom>
          <a:solidFill>
            <a:srgbClr val="FFFFFF"/>
          </a:solidFill>
          <a:ln w="25400">
            <a:solidFill>
              <a:srgbClr val="1B2A49"/>
            </a:solidFill>
            <a:prstDash val="solid"/>
          </a:ln>
        </p:spPr>
      </p:sp>
      <p:sp>
        <p:nvSpPr>
          <p:cNvPr id="20" name="Text 17"/>
          <p:cNvSpPr/>
          <p:nvPr/>
        </p:nvSpPr>
        <p:spPr>
          <a:xfrm>
            <a:off x="105156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Web app + CRM</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accounts, contacts</a:t>
            </a:r>
            <a:endParaRPr lang="en-US" sz="2800" dirty="0"/>
          </a:p>
        </p:txBody>
      </p:sp>
      <p:sp>
        <p:nvSpPr>
          <p:cNvPr id="21" name="Shape 18"/>
          <p:cNvSpPr/>
          <p:nvPr/>
        </p:nvSpPr>
        <p:spPr>
          <a:xfrm>
            <a:off x="4937760" y="14996160"/>
            <a:ext cx="3474720" cy="1554480"/>
          </a:xfrm>
          <a:prstGeom prst="roundRect">
            <a:avLst>
              <a:gd name="adj" fmla="val 7059"/>
            </a:avLst>
          </a:prstGeom>
          <a:solidFill>
            <a:srgbClr val="C9A227"/>
          </a:solidFill>
          <a:ln w="25400">
            <a:solidFill>
              <a:srgbClr val="C9A227"/>
            </a:solidFill>
            <a:prstDash val="solid"/>
          </a:ln>
        </p:spPr>
      </p:sp>
      <p:sp>
        <p:nvSpPr>
          <p:cNvPr id="22" name="Text 19"/>
          <p:cNvSpPr/>
          <p:nvPr/>
        </p:nvSpPr>
        <p:spPr>
          <a:xfrm>
            <a:off x="507492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Consent gate</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opt-in, STOP, quiet hours</a:t>
            </a:r>
            <a:endParaRPr lang="en-US" sz="2800" dirty="0"/>
          </a:p>
        </p:txBody>
      </p:sp>
      <p:sp>
        <p:nvSpPr>
          <p:cNvPr id="23" name="Shape 20"/>
          <p:cNvSpPr/>
          <p:nvPr/>
        </p:nvSpPr>
        <p:spPr>
          <a:xfrm>
            <a:off x="8961120" y="14996160"/>
            <a:ext cx="3474720" cy="1554480"/>
          </a:xfrm>
          <a:prstGeom prst="roundRect">
            <a:avLst>
              <a:gd name="adj" fmla="val 7059"/>
            </a:avLst>
          </a:prstGeom>
          <a:solidFill>
            <a:srgbClr val="FFFFFF"/>
          </a:solidFill>
          <a:ln w="25400">
            <a:solidFill>
              <a:srgbClr val="1B2A49"/>
            </a:solidFill>
            <a:prstDash val="solid"/>
          </a:ln>
        </p:spPr>
      </p:sp>
      <p:sp>
        <p:nvSpPr>
          <p:cNvPr id="24" name="Text 21"/>
          <p:cNvSpPr/>
          <p:nvPr/>
        </p:nvSpPr>
        <p:spPr>
          <a:xfrm>
            <a:off x="909828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Reminders engine</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no double sends</a:t>
            </a:r>
            <a:endParaRPr lang="en-US" sz="2800" dirty="0"/>
          </a:p>
        </p:txBody>
      </p:sp>
      <p:sp>
        <p:nvSpPr>
          <p:cNvPr id="25" name="Shape 22"/>
          <p:cNvSpPr/>
          <p:nvPr/>
        </p:nvSpPr>
        <p:spPr>
          <a:xfrm>
            <a:off x="12984480" y="14996160"/>
            <a:ext cx="3474720" cy="1554480"/>
          </a:xfrm>
          <a:prstGeom prst="roundRect">
            <a:avLst>
              <a:gd name="adj" fmla="val 7059"/>
            </a:avLst>
          </a:prstGeom>
          <a:solidFill>
            <a:srgbClr val="FFFFFF"/>
          </a:solidFill>
          <a:ln w="25400">
            <a:solidFill>
              <a:srgbClr val="1B2A49"/>
            </a:solidFill>
            <a:prstDash val="solid"/>
          </a:ln>
        </p:spPr>
      </p:sp>
      <p:sp>
        <p:nvSpPr>
          <p:cNvPr id="26" name="Text 23"/>
          <p:cNvSpPr/>
          <p:nvPr/>
        </p:nvSpPr>
        <p:spPr>
          <a:xfrm>
            <a:off x="1312164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SMS, voice, email</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via Twilio and SMTP</a:t>
            </a:r>
            <a:endParaRPr lang="en-US" sz="2800" dirty="0"/>
          </a:p>
        </p:txBody>
      </p:sp>
      <p:sp>
        <p:nvSpPr>
          <p:cNvPr id="27" name="Shape 24"/>
          <p:cNvSpPr/>
          <p:nvPr/>
        </p:nvSpPr>
        <p:spPr>
          <a:xfrm>
            <a:off x="17007840" y="14996160"/>
            <a:ext cx="3474720" cy="1554480"/>
          </a:xfrm>
          <a:prstGeom prst="roundRect">
            <a:avLst>
              <a:gd name="adj" fmla="val 7059"/>
            </a:avLst>
          </a:prstGeom>
          <a:solidFill>
            <a:srgbClr val="FFFFFF"/>
          </a:solidFill>
          <a:ln w="25400">
            <a:solidFill>
              <a:srgbClr val="1B2A49"/>
            </a:solidFill>
            <a:prstDash val="solid"/>
          </a:ln>
        </p:spPr>
      </p:sp>
      <p:sp>
        <p:nvSpPr>
          <p:cNvPr id="28" name="Text 25"/>
          <p:cNvSpPr/>
          <p:nvPr/>
        </p:nvSpPr>
        <p:spPr>
          <a:xfrm>
            <a:off x="1714500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Dashboard</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status and history</a:t>
            </a:r>
            <a:endParaRPr lang="en-US" sz="2800" dirty="0"/>
          </a:p>
        </p:txBody>
      </p:sp>
      <p:sp>
        <p:nvSpPr>
          <p:cNvPr id="29" name="Shape 26"/>
          <p:cNvSpPr/>
          <p:nvPr/>
        </p:nvSpPr>
        <p:spPr>
          <a:xfrm>
            <a:off x="4434840" y="15773400"/>
            <a:ext cx="457200" cy="0"/>
          </a:xfrm>
          <a:prstGeom prst="line">
            <a:avLst/>
          </a:prstGeom>
          <a:noFill/>
          <a:ln w="50800">
            <a:solidFill>
              <a:srgbClr val="C9A227"/>
            </a:solidFill>
            <a:prstDash val="solid"/>
            <a:tailEnd type="triangle"/>
          </a:ln>
        </p:spPr>
      </p:sp>
      <p:sp>
        <p:nvSpPr>
          <p:cNvPr id="30" name="Shape 27"/>
          <p:cNvSpPr/>
          <p:nvPr/>
        </p:nvSpPr>
        <p:spPr>
          <a:xfrm>
            <a:off x="8458200" y="15773400"/>
            <a:ext cx="457200" cy="0"/>
          </a:xfrm>
          <a:prstGeom prst="line">
            <a:avLst/>
          </a:prstGeom>
          <a:noFill/>
          <a:ln w="50800">
            <a:solidFill>
              <a:srgbClr val="C9A227"/>
            </a:solidFill>
            <a:prstDash val="solid"/>
            <a:tailEnd type="triangle"/>
          </a:ln>
        </p:spPr>
      </p:sp>
      <p:sp>
        <p:nvSpPr>
          <p:cNvPr id="31" name="Shape 28"/>
          <p:cNvSpPr/>
          <p:nvPr/>
        </p:nvSpPr>
        <p:spPr>
          <a:xfrm>
            <a:off x="12481560" y="15773400"/>
            <a:ext cx="457200" cy="0"/>
          </a:xfrm>
          <a:prstGeom prst="line">
            <a:avLst/>
          </a:prstGeom>
          <a:noFill/>
          <a:ln w="50800">
            <a:solidFill>
              <a:srgbClr val="C9A227"/>
            </a:solidFill>
            <a:prstDash val="solid"/>
            <a:tailEnd type="triangle"/>
          </a:ln>
        </p:spPr>
      </p:sp>
      <p:sp>
        <p:nvSpPr>
          <p:cNvPr id="32" name="Shape 29"/>
          <p:cNvSpPr/>
          <p:nvPr/>
        </p:nvSpPr>
        <p:spPr>
          <a:xfrm>
            <a:off x="16504920" y="15773400"/>
            <a:ext cx="457200" cy="0"/>
          </a:xfrm>
          <a:prstGeom prst="line">
            <a:avLst/>
          </a:prstGeom>
          <a:noFill/>
          <a:ln w="50800">
            <a:solidFill>
              <a:srgbClr val="C9A227"/>
            </a:solidFill>
            <a:prstDash val="solid"/>
            <a:tailEnd type="triangle"/>
          </a:ln>
        </p:spPr>
      </p:sp>
      <p:sp>
        <p:nvSpPr>
          <p:cNvPr id="33" name="Shape 30"/>
          <p:cNvSpPr/>
          <p:nvPr/>
        </p:nvSpPr>
        <p:spPr>
          <a:xfrm>
            <a:off x="914400" y="16916400"/>
            <a:ext cx="9509760" cy="1371600"/>
          </a:xfrm>
          <a:prstGeom prst="roundRect">
            <a:avLst>
              <a:gd name="adj" fmla="val 8000"/>
            </a:avLst>
          </a:prstGeom>
          <a:solidFill>
            <a:srgbClr val="EEF1F6"/>
          </a:solidFill>
          <a:ln w="25400">
            <a:solidFill>
              <a:srgbClr val="1B2A49"/>
            </a:solidFill>
            <a:prstDash val="solid"/>
          </a:ln>
        </p:spPr>
      </p:sp>
      <p:sp>
        <p:nvSpPr>
          <p:cNvPr id="34" name="Text 31"/>
          <p:cNvSpPr/>
          <p:nvPr/>
        </p:nvSpPr>
        <p:spPr>
          <a:xfrm>
            <a:off x="1051560" y="16916400"/>
            <a:ext cx="9235440" cy="137160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AI receptionist</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FAQ, human handoff, booking, Claude</a:t>
            </a:r>
            <a:endParaRPr lang="en-US" sz="2800" dirty="0"/>
          </a:p>
        </p:txBody>
      </p:sp>
      <p:sp>
        <p:nvSpPr>
          <p:cNvPr id="35" name="Shape 32"/>
          <p:cNvSpPr/>
          <p:nvPr/>
        </p:nvSpPr>
        <p:spPr>
          <a:xfrm>
            <a:off x="10972800" y="16916400"/>
            <a:ext cx="9509760" cy="1371600"/>
          </a:xfrm>
          <a:prstGeom prst="roundRect">
            <a:avLst>
              <a:gd name="adj" fmla="val 8000"/>
            </a:avLst>
          </a:prstGeom>
          <a:solidFill>
            <a:srgbClr val="EEF1F6"/>
          </a:solidFill>
          <a:ln w="25400">
            <a:solidFill>
              <a:srgbClr val="1B2A49"/>
            </a:solidFill>
            <a:prstDash val="solid"/>
          </a:ln>
        </p:spPr>
      </p:sp>
      <p:sp>
        <p:nvSpPr>
          <p:cNvPr id="36" name="Text 33"/>
          <p:cNvSpPr/>
          <p:nvPr/>
        </p:nvSpPr>
        <p:spPr>
          <a:xfrm>
            <a:off x="11109960" y="16916400"/>
            <a:ext cx="9235440" cy="137160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Call summaries</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sentiment and priority for the operator</a:t>
            </a:r>
            <a:endParaRPr lang="en-US" sz="2800" dirty="0"/>
          </a:p>
        </p:txBody>
      </p:sp>
      <p:sp>
        <p:nvSpPr>
          <p:cNvPr id="37" name="Shape 34"/>
          <p:cNvSpPr/>
          <p:nvPr/>
        </p:nvSpPr>
        <p:spPr>
          <a:xfrm>
            <a:off x="914400" y="18653760"/>
            <a:ext cx="19568160" cy="868680"/>
          </a:xfrm>
          <a:prstGeom prst="rect">
            <a:avLst/>
          </a:prstGeom>
          <a:solidFill>
            <a:srgbClr val="EEF1F6"/>
          </a:solidFill>
          <a:ln/>
        </p:spPr>
      </p:sp>
      <p:sp>
        <p:nvSpPr>
          <p:cNvPr id="38" name="Text 35"/>
          <p:cNvSpPr/>
          <p:nvPr/>
        </p:nvSpPr>
        <p:spPr>
          <a:xfrm>
            <a:off x="1188720" y="18653760"/>
            <a:ext cx="19019520" cy="86868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516 automated tests  ·  CI on every change  ·  signed webhooks  ·  a real call answered by voice</a:t>
            </a:r>
            <a:endParaRPr lang="en-US" sz="2600" dirty="0"/>
          </a:p>
        </p:txBody>
      </p:sp>
      <p:sp>
        <p:nvSpPr>
          <p:cNvPr id="39" name="Shape 36"/>
          <p:cNvSpPr/>
          <p:nvPr/>
        </p:nvSpPr>
        <p:spPr>
          <a:xfrm>
            <a:off x="914400" y="19979640"/>
            <a:ext cx="777240" cy="777240"/>
          </a:xfrm>
          <a:prstGeom prst="ellipse">
            <a:avLst/>
          </a:prstGeom>
          <a:solidFill>
            <a:srgbClr val="C9A227"/>
          </a:solidFill>
          <a:ln/>
        </p:spPr>
      </p:sp>
      <p:sp>
        <p:nvSpPr>
          <p:cNvPr id="40" name="Text 37"/>
          <p:cNvSpPr/>
          <p:nvPr/>
        </p:nvSpPr>
        <p:spPr>
          <a:xfrm>
            <a:off x="914400" y="1997964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3</a:t>
            </a:r>
            <a:endParaRPr lang="en-US" sz="3200" dirty="0"/>
          </a:p>
        </p:txBody>
      </p:sp>
      <p:sp>
        <p:nvSpPr>
          <p:cNvPr id="41" name="Text 38"/>
          <p:cNvSpPr/>
          <p:nvPr/>
        </p:nvSpPr>
        <p:spPr>
          <a:xfrm>
            <a:off x="1920240" y="1993392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Roadmap and risks</a:t>
            </a:r>
            <a:endParaRPr lang="en-US" sz="4600" dirty="0"/>
          </a:p>
        </p:txBody>
      </p:sp>
      <p:sp>
        <p:nvSpPr>
          <p:cNvPr id="42" name="Shape 39"/>
          <p:cNvSpPr/>
          <p:nvPr/>
        </p:nvSpPr>
        <p:spPr>
          <a:xfrm>
            <a:off x="914400" y="20939760"/>
            <a:ext cx="6309360" cy="3931920"/>
          </a:xfrm>
          <a:prstGeom prst="roundRect">
            <a:avLst>
              <a:gd name="adj" fmla="val 2791"/>
            </a:avLst>
          </a:prstGeom>
          <a:solidFill>
            <a:srgbClr val="FFFFFF"/>
          </a:solidFill>
          <a:ln w="38100">
            <a:solidFill>
              <a:srgbClr val="2E7D5B"/>
            </a:solidFill>
            <a:prstDash val="solid"/>
          </a:ln>
        </p:spPr>
      </p:sp>
      <p:sp>
        <p:nvSpPr>
          <p:cNvPr id="43" name="Text 40"/>
          <p:cNvSpPr/>
          <p:nvPr/>
        </p:nvSpPr>
        <p:spPr>
          <a:xfrm>
            <a:off x="1143000" y="21076920"/>
            <a:ext cx="5852160" cy="548640"/>
          </a:xfrm>
          <a:prstGeom prst="rect">
            <a:avLst/>
          </a:prstGeom>
          <a:noFill/>
          <a:ln/>
        </p:spPr>
        <p:txBody>
          <a:bodyPr wrap="square" lIns="0" tIns="0" rIns="0" bIns="0" rtlCol="0" anchor="ctr"/>
          <a:lstStyle/>
          <a:p>
            <a:pPr indent="0" marL="0">
              <a:buNone/>
            </a:pPr>
            <a:r>
              <a:rPr lang="en-US" sz="2800" b="1" dirty="0">
                <a:solidFill>
                  <a:srgbClr val="2E7D5B"/>
                </a:solidFill>
                <a:latin typeface="Calibri" pitchFamily="34" charset="0"/>
                <a:ea typeface="Calibri" pitchFamily="34" charset="-122"/>
                <a:cs typeface="Calibri" pitchFamily="34" charset="-120"/>
              </a:rPr>
              <a:t>Live today</a:t>
            </a:r>
            <a:endParaRPr lang="en-US" sz="2800" dirty="0"/>
          </a:p>
        </p:txBody>
      </p:sp>
      <p:sp>
        <p:nvSpPr>
          <p:cNvPr id="44" name="Text 41"/>
          <p:cNvSpPr/>
          <p:nvPr/>
        </p:nvSpPr>
        <p:spPr>
          <a:xfrm>
            <a:off x="11430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Accounts, contacts, CSV import</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Consent rules and STOP</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Reminders engine</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Voice receptionist on Render</a:t>
            </a:r>
            <a:endParaRPr lang="en-US" sz="2800" dirty="0"/>
          </a:p>
        </p:txBody>
      </p:sp>
      <p:sp>
        <p:nvSpPr>
          <p:cNvPr id="45" name="Shape 42"/>
          <p:cNvSpPr/>
          <p:nvPr/>
        </p:nvSpPr>
        <p:spPr>
          <a:xfrm>
            <a:off x="7543800" y="20939760"/>
            <a:ext cx="6309360" cy="3931920"/>
          </a:xfrm>
          <a:prstGeom prst="roundRect">
            <a:avLst>
              <a:gd name="adj" fmla="val 2791"/>
            </a:avLst>
          </a:prstGeom>
          <a:solidFill>
            <a:srgbClr val="FFFFFF"/>
          </a:solidFill>
          <a:ln w="38100">
            <a:solidFill>
              <a:srgbClr val="A9701B"/>
            </a:solidFill>
            <a:prstDash val="solid"/>
          </a:ln>
        </p:spPr>
      </p:sp>
      <p:sp>
        <p:nvSpPr>
          <p:cNvPr id="46" name="Text 43"/>
          <p:cNvSpPr/>
          <p:nvPr/>
        </p:nvSpPr>
        <p:spPr>
          <a:xfrm>
            <a:off x="7772400" y="21076920"/>
            <a:ext cx="5852160" cy="548640"/>
          </a:xfrm>
          <a:prstGeom prst="rect">
            <a:avLst/>
          </a:prstGeom>
          <a:noFill/>
          <a:ln/>
        </p:spPr>
        <p:txBody>
          <a:bodyPr wrap="square" lIns="0" tIns="0" rIns="0" bIns="0" rtlCol="0" anchor="ctr"/>
          <a:lstStyle/>
          <a:p>
            <a:pPr indent="0" marL="0">
              <a:buNone/>
            </a:pPr>
            <a:r>
              <a:rPr lang="en-US" sz="2800" b="1" dirty="0">
                <a:solidFill>
                  <a:srgbClr val="A9701B"/>
                </a:solidFill>
                <a:latin typeface="Calibri" pitchFamily="34" charset="0"/>
                <a:ea typeface="Calibri" pitchFamily="34" charset="-122"/>
                <a:cs typeface="Calibri" pitchFamily="34" charset="-120"/>
              </a:rPr>
              <a:t>Built, ships with next deploy</a:t>
            </a:r>
            <a:endParaRPr lang="en-US" sz="2800" dirty="0"/>
          </a:p>
        </p:txBody>
      </p:sp>
      <p:sp>
        <p:nvSpPr>
          <p:cNvPr id="47" name="Text 44"/>
          <p:cNvSpPr/>
          <p:nvPr/>
        </p:nvSpPr>
        <p:spPr>
          <a:xfrm>
            <a:off x="77724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Recurrence, pause, templates</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Merge fields, rescheduling</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Call summaries, booking with FAQ</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Roles, API keys, CSV export</a:t>
            </a:r>
            <a:endParaRPr lang="en-US" sz="2800" dirty="0"/>
          </a:p>
        </p:txBody>
      </p:sp>
      <p:sp>
        <p:nvSpPr>
          <p:cNvPr id="48" name="Shape 45"/>
          <p:cNvSpPr/>
          <p:nvPr/>
        </p:nvSpPr>
        <p:spPr>
          <a:xfrm>
            <a:off x="14173200" y="20939760"/>
            <a:ext cx="6309360" cy="3931920"/>
          </a:xfrm>
          <a:prstGeom prst="roundRect">
            <a:avLst>
              <a:gd name="adj" fmla="val 2791"/>
            </a:avLst>
          </a:prstGeom>
          <a:solidFill>
            <a:srgbClr val="FFFFFF"/>
          </a:solidFill>
          <a:ln w="38100">
            <a:solidFill>
              <a:srgbClr val="1B2A49"/>
            </a:solidFill>
            <a:prstDash val="solid"/>
          </a:ln>
        </p:spPr>
      </p:sp>
      <p:sp>
        <p:nvSpPr>
          <p:cNvPr id="49" name="Text 46"/>
          <p:cNvSpPr/>
          <p:nvPr/>
        </p:nvSpPr>
        <p:spPr>
          <a:xfrm>
            <a:off x="14401800" y="21076920"/>
            <a:ext cx="5852160" cy="548640"/>
          </a:xfrm>
          <a:prstGeom prst="rect">
            <a:avLst/>
          </a:prstGeom>
          <a:noFill/>
          <a:ln/>
        </p:spPr>
        <p:txBody>
          <a:bodyPr wrap="square" lIns="0" tIns="0" rIns="0" bIns="0" rtlCol="0" anchor="ctr"/>
          <a:lstStyle/>
          <a:p>
            <a:pPr indent="0" marL="0">
              <a:buNone/>
            </a:pPr>
            <a:r>
              <a:rPr lang="en-US" sz="2800" b="1" dirty="0">
                <a:solidFill>
                  <a:srgbClr val="1B2A49"/>
                </a:solidFill>
                <a:latin typeface="Calibri" pitchFamily="34" charset="0"/>
                <a:ea typeface="Calibri" pitchFamily="34" charset="-122"/>
                <a:cs typeface="Calibri" pitchFamily="34" charset="-120"/>
              </a:rPr>
              <a:t>Next, highest priority first</a:t>
            </a:r>
            <a:endParaRPr lang="en-US" sz="2800" dirty="0"/>
          </a:p>
        </p:txBody>
      </p:sp>
      <p:sp>
        <p:nvSpPr>
          <p:cNvPr id="50" name="Text 47"/>
          <p:cNvSpPr/>
          <p:nvPr/>
        </p:nvSpPr>
        <p:spPr>
          <a:xfrm>
            <a:off x="144018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Email and SMS proven end to end</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Marketing site rework live</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Recordings, handover pack</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Client feedback on the poster</a:t>
            </a:r>
            <a:endParaRPr lang="en-US" sz="2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914400" y="25054560"/>
          <a:ext cx="19568160" cy="914400"/>
        </p:xfrm>
        <a:graphic>
          <a:graphicData uri="http://schemas.openxmlformats.org/drawingml/2006/table">
            <a:tbl>
              <a:tblPr/>
              <a:tblGrid>
                <a:gridCol w="8595360"/>
                <a:gridCol w="10972800"/>
              </a:tblGrid>
              <a:tr h="530352">
                <a:tc>
                  <a:txBody>
                    <a:bodyPr/>
                    <a:lstStyle/>
                    <a:p>
                      <a:pPr indent="0" marL="0">
                        <a:buNone/>
                      </a:pPr>
                      <a:r>
                        <a:rPr lang="en-US" sz="2600" b="1" dirty="0">
                          <a:solidFill>
                            <a:srgbClr val="FFFFFF"/>
                          </a:solidFill>
                          <a:latin typeface="Calibri" pitchFamily="34" charset="0"/>
                          <a:ea typeface="Calibri" pitchFamily="34" charset="-122"/>
                          <a:cs typeface="Calibri" pitchFamily="34" charset="-120"/>
                        </a:rPr>
                        <a:t>Risk</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1B2A49"/>
                    </a:solidFill>
                  </a:tcPr>
                </a:tc>
                <a:tc>
                  <a:txBody>
                    <a:bodyPr/>
                    <a:lstStyle/>
                    <a:p>
                      <a:pPr indent="0" marL="0">
                        <a:buNone/>
                      </a:pPr>
                      <a:r>
                        <a:rPr lang="en-US" sz="2600" b="1" dirty="0">
                          <a:solidFill>
                            <a:srgbClr val="FFFFFF"/>
                          </a:solidFill>
                          <a:latin typeface="Calibri" pitchFamily="34" charset="0"/>
                          <a:ea typeface="Calibri" pitchFamily="34" charset="-122"/>
                          <a:cs typeface="Calibri" pitchFamily="34" charset="-120"/>
                        </a:rPr>
                        <a:t>What we are doing</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1B2A49"/>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SMS blocked by carrier registration</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Demo voice, email and dashboard; explain it</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Free host sleeps and loses data</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Wake it first; demo data reloads on boot</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Demo is cloud, brief says on-premise</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Written note; we say so on the poster</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Tickets and merged code out of step</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Audit every ticket against the code</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r>
            </a:tbl>
          </a:graphicData>
        </a:graphic>
      </p:graphicFrame>
      <p:sp>
        <p:nvSpPr>
          <p:cNvPr id="52" name="Shape 48"/>
          <p:cNvSpPr/>
          <p:nvPr/>
        </p:nvSpPr>
        <p:spPr>
          <a:xfrm>
            <a:off x="914400" y="27843480"/>
            <a:ext cx="777240" cy="777240"/>
          </a:xfrm>
          <a:prstGeom prst="ellipse">
            <a:avLst/>
          </a:prstGeom>
          <a:solidFill>
            <a:srgbClr val="C9A227"/>
          </a:solidFill>
          <a:ln/>
        </p:spPr>
      </p:sp>
      <p:sp>
        <p:nvSpPr>
          <p:cNvPr id="53" name="Text 49"/>
          <p:cNvSpPr/>
          <p:nvPr/>
        </p:nvSpPr>
        <p:spPr>
          <a:xfrm>
            <a:off x="914400" y="278434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4</a:t>
            </a:r>
            <a:endParaRPr lang="en-US" sz="3200" dirty="0"/>
          </a:p>
        </p:txBody>
      </p:sp>
      <p:sp>
        <p:nvSpPr>
          <p:cNvPr id="54" name="Text 50"/>
          <p:cNvSpPr/>
          <p:nvPr/>
        </p:nvSpPr>
        <p:spPr>
          <a:xfrm>
            <a:off x="1920240" y="277977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Team</a:t>
            </a:r>
            <a:endParaRPr lang="en-US" sz="4600" dirty="0"/>
          </a:p>
        </p:txBody>
      </p:sp>
      <p:sp>
        <p:nvSpPr>
          <p:cNvPr id="55" name="Shape 51"/>
          <p:cNvSpPr/>
          <p:nvPr/>
        </p:nvSpPr>
        <p:spPr>
          <a:xfrm>
            <a:off x="914400" y="28712160"/>
            <a:ext cx="4663440" cy="1188720"/>
          </a:xfrm>
          <a:prstGeom prst="roundRect">
            <a:avLst>
              <a:gd name="adj" fmla="val 7692"/>
            </a:avLst>
          </a:prstGeom>
          <a:solidFill>
            <a:srgbClr val="EEF1F6"/>
          </a:solidFill>
          <a:ln w="12700">
            <a:solidFill>
              <a:srgbClr val="EEF1F6"/>
            </a:solidFill>
            <a:prstDash val="solid"/>
          </a:ln>
        </p:spPr>
      </p:sp>
      <p:sp>
        <p:nvSpPr>
          <p:cNvPr id="56" name="Text 52"/>
          <p:cNvSpPr/>
          <p:nvPr/>
        </p:nvSpPr>
        <p:spPr>
          <a:xfrm>
            <a:off x="1051560"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Dilraj Singh</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Product owner, lead developer</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Integration, hosting, receptionist</a:t>
            </a:r>
            <a:endParaRPr lang="en-US" sz="2600" dirty="0"/>
          </a:p>
        </p:txBody>
      </p:sp>
      <p:sp>
        <p:nvSpPr>
          <p:cNvPr id="57" name="Shape 53"/>
          <p:cNvSpPr/>
          <p:nvPr/>
        </p:nvSpPr>
        <p:spPr>
          <a:xfrm>
            <a:off x="5879592" y="28712160"/>
            <a:ext cx="4663440" cy="1188720"/>
          </a:xfrm>
          <a:prstGeom prst="roundRect">
            <a:avLst>
              <a:gd name="adj" fmla="val 7692"/>
            </a:avLst>
          </a:prstGeom>
          <a:solidFill>
            <a:srgbClr val="EEF1F6"/>
          </a:solidFill>
          <a:ln w="12700">
            <a:solidFill>
              <a:srgbClr val="EEF1F6"/>
            </a:solidFill>
            <a:prstDash val="solid"/>
          </a:ln>
        </p:spPr>
      </p:sp>
      <p:sp>
        <p:nvSpPr>
          <p:cNvPr id="58" name="Text 54"/>
          <p:cNvSpPr/>
          <p:nvPr/>
        </p:nvSpPr>
        <p:spPr>
          <a:xfrm>
            <a:off x="6016752"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Prabhjot Singh</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Scrum master, full-stack</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Reminders UI, email, evidence</a:t>
            </a:r>
            <a:endParaRPr lang="en-US" sz="2600" dirty="0"/>
          </a:p>
        </p:txBody>
      </p:sp>
      <p:sp>
        <p:nvSpPr>
          <p:cNvPr id="59" name="Shape 55"/>
          <p:cNvSpPr/>
          <p:nvPr/>
        </p:nvSpPr>
        <p:spPr>
          <a:xfrm>
            <a:off x="10844784" y="28712160"/>
            <a:ext cx="4663440" cy="1188720"/>
          </a:xfrm>
          <a:prstGeom prst="roundRect">
            <a:avLst>
              <a:gd name="adj" fmla="val 7692"/>
            </a:avLst>
          </a:prstGeom>
          <a:solidFill>
            <a:srgbClr val="EEF1F6"/>
          </a:solidFill>
          <a:ln w="12700">
            <a:solidFill>
              <a:srgbClr val="EEF1F6"/>
            </a:solidFill>
            <a:prstDash val="solid"/>
          </a:ln>
        </p:spPr>
      </p:sp>
      <p:sp>
        <p:nvSpPr>
          <p:cNvPr id="60" name="Text 56"/>
          <p:cNvSpPr/>
          <p:nvPr/>
        </p:nvSpPr>
        <p:spPr>
          <a:xfrm>
            <a:off x="10981944"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Dhiman Roy</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Backend: accounts, consent</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Templates, rescheduling, auth</a:t>
            </a:r>
            <a:endParaRPr lang="en-US" sz="2600" dirty="0"/>
          </a:p>
        </p:txBody>
      </p:sp>
      <p:sp>
        <p:nvSpPr>
          <p:cNvPr id="61" name="Shape 57"/>
          <p:cNvSpPr/>
          <p:nvPr/>
        </p:nvSpPr>
        <p:spPr>
          <a:xfrm>
            <a:off x="15809976" y="28712160"/>
            <a:ext cx="4663440" cy="1188720"/>
          </a:xfrm>
          <a:prstGeom prst="roundRect">
            <a:avLst>
              <a:gd name="adj" fmla="val 7692"/>
            </a:avLst>
          </a:prstGeom>
          <a:solidFill>
            <a:srgbClr val="EEF1F6"/>
          </a:solidFill>
          <a:ln w="12700">
            <a:solidFill>
              <a:srgbClr val="EEF1F6"/>
            </a:solidFill>
            <a:prstDash val="solid"/>
          </a:ln>
        </p:spPr>
      </p:sp>
      <p:sp>
        <p:nvSpPr>
          <p:cNvPr id="62" name="Text 58"/>
          <p:cNvSpPr/>
          <p:nvPr/>
        </p:nvSpPr>
        <p:spPr>
          <a:xfrm>
            <a:off x="15947136"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Saifur Rahman Bhuiyan</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Delivery, analytics, web</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Marketing site, exports</a:t>
            </a:r>
            <a:endParaRPr lang="en-US" sz="2600" dirty="0"/>
          </a:p>
        </p:txBody>
      </p:sp>
      <p:sp>
        <p:nvSpPr>
          <p:cNvPr id="63" name="Text 59"/>
          <p:cNvSpPr/>
          <p:nvPr/>
        </p:nvSpPr>
        <p:spPr>
          <a:xfrm>
            <a:off x="914400" y="29955744"/>
            <a:ext cx="19568160" cy="256032"/>
          </a:xfrm>
          <a:prstGeom prst="rect">
            <a:avLst/>
          </a:prstGeom>
          <a:noFill/>
          <a:ln/>
        </p:spPr>
        <p:txBody>
          <a:bodyPr wrap="square" lIns="0" tIns="0" rIns="0" bIns="0" rtlCol="0" anchor="ctr"/>
          <a:lstStyle/>
          <a:p>
            <a:pPr indent="0" marL="0">
              <a:buNone/>
            </a:pPr>
            <a:r>
              <a:rPr lang="en-US" sz="1600" dirty="0">
                <a:solidFill>
                  <a:srgbClr val="5B6B8C"/>
                </a:solidFill>
                <a:latin typeface="Calibri" pitchFamily="34" charset="0"/>
                <a:ea typeface="Calibri" pitchFamily="34" charset="-122"/>
                <a:cs typeface="Calibri" pitchFamily="34" charset="-120"/>
              </a:rPr>
              <a:t>Python · FastAPI · SQLite · Twilio · Claude · Docker      Demo data is fictional. The target deployment is on-premise.      Built by the four team members with Claude Code (AI assistant).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2026-10-14T12:53:15Z</dcterms:created>
  <dcterms:modified xsi:type="dcterms:W3CDTF">2026-10-14T12:53:15Z</dcterms:modified>
</cp:coreProperties>
</file>