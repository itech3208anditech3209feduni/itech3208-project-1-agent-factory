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5784" cy="21387816"/>
  <p:notesSz cx="21387816" cy="3027578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275784" cy="2834640"/>
          </a:xfrm>
          <a:prstGeom prst="rect">
            <a:avLst/>
          </a:prstGeom>
          <a:solidFill>
            <a:srgbClr val="111A2F"/>
          </a:solidFill>
          <a:ln/>
        </p:spPr>
      </p:sp>
      <p:pic>
        <p:nvPicPr>
          <p:cNvPr id="3" name="Image 0" descr="logo_src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31520" y="411480"/>
            <a:ext cx="2011680" cy="20116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108960" y="274320"/>
            <a:ext cx="1280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6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FACTORY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108960" y="822960"/>
            <a:ext cx="2642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Reminders that respect consent, and an AI receptionist that answers the phone</a:t>
            </a:r>
            <a:endParaRPr lang="en-US" sz="4600" dirty="0"/>
          </a:p>
        </p:txBody>
      </p:sp>
      <p:sp>
        <p:nvSpPr>
          <p:cNvPr id="6" name="Text 3"/>
          <p:cNvSpPr/>
          <p:nvPr/>
        </p:nvSpPr>
        <p:spPr>
          <a:xfrm>
            <a:off x="3108960" y="2057400"/>
            <a:ext cx="2642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ITECH3208 / 3209  ·  Federation University  ·  Client: Zakir Ullah Shah  ·  Sprint 5 poster session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31520" y="3154680"/>
            <a:ext cx="5248656" cy="1280160"/>
          </a:xfrm>
          <a:prstGeom prst="roundRect">
            <a:avLst>
              <a:gd name="adj" fmla="val 8571"/>
            </a:avLst>
          </a:prstGeom>
          <a:solidFill>
            <a:srgbClr val="121826"/>
          </a:solidFill>
          <a:ln w="25400">
            <a:solidFill>
              <a:srgbClr val="26304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315468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 + CRM</a:t>
            </a:r>
            <a:endParaRPr lang="en-US" sz="24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accounts, contacts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6620256" y="3154680"/>
            <a:ext cx="5248656" cy="1280160"/>
          </a:xfrm>
          <a:prstGeom prst="roundRect">
            <a:avLst>
              <a:gd name="adj" fmla="val 8571"/>
            </a:avLst>
          </a:prstGeom>
          <a:solidFill>
            <a:srgbClr val="6366F1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29984" y="315468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gate</a:t>
            </a:r>
            <a:endParaRPr lang="en-US" sz="24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opt-in, STOP, quiet hours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12508992" y="3154680"/>
            <a:ext cx="5248656" cy="1280160"/>
          </a:xfrm>
          <a:prstGeom prst="roundRect">
            <a:avLst>
              <a:gd name="adj" fmla="val 8571"/>
            </a:avLst>
          </a:prstGeom>
          <a:solidFill>
            <a:srgbClr val="121826"/>
          </a:solidFill>
          <a:ln w="25400">
            <a:solidFill>
              <a:srgbClr val="26304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618720" y="315468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Reminders engine</a:t>
            </a:r>
            <a:endParaRPr lang="en-US" sz="24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double sends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18397728" y="3154680"/>
            <a:ext cx="5248656" cy="1280160"/>
          </a:xfrm>
          <a:prstGeom prst="roundRect">
            <a:avLst>
              <a:gd name="adj" fmla="val 8571"/>
            </a:avLst>
          </a:prstGeom>
          <a:solidFill>
            <a:srgbClr val="121826"/>
          </a:solidFill>
          <a:ln w="25400">
            <a:solidFill>
              <a:srgbClr val="26304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8507456" y="315468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SMS, voice, email</a:t>
            </a:r>
            <a:endParaRPr lang="en-US" sz="24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Twilio and SMTP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24286464" y="3154680"/>
            <a:ext cx="5248656" cy="1280160"/>
          </a:xfrm>
          <a:prstGeom prst="roundRect">
            <a:avLst>
              <a:gd name="adj" fmla="val 8571"/>
            </a:avLst>
          </a:prstGeom>
          <a:solidFill>
            <a:srgbClr val="121826"/>
          </a:solidFill>
          <a:ln w="25400">
            <a:solidFill>
              <a:srgbClr val="26304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4396192" y="315468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receptionist</a:t>
            </a:r>
            <a:endParaRPr lang="en-US" sz="24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FAQ, handoff, booking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6025896" y="3794760"/>
            <a:ext cx="548640" cy="0"/>
          </a:xfrm>
          <a:prstGeom prst="line">
            <a:avLst/>
          </a:prstGeom>
          <a:noFill/>
          <a:ln w="50800">
            <a:solidFill>
              <a:srgbClr val="22D3EE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11914632" y="3794760"/>
            <a:ext cx="548640" cy="0"/>
          </a:xfrm>
          <a:prstGeom prst="line">
            <a:avLst/>
          </a:prstGeom>
          <a:noFill/>
          <a:ln w="50800">
            <a:solidFill>
              <a:srgbClr val="22D3EE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17803368" y="3794760"/>
            <a:ext cx="548640" cy="0"/>
          </a:xfrm>
          <a:prstGeom prst="line">
            <a:avLst/>
          </a:prstGeom>
          <a:noFill/>
          <a:ln w="50800">
            <a:solidFill>
              <a:srgbClr val="22D3EE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23692104" y="3794760"/>
            <a:ext cx="548640" cy="0"/>
          </a:xfrm>
          <a:prstGeom prst="line">
            <a:avLst/>
          </a:prstGeom>
          <a:noFill/>
          <a:ln w="50800">
            <a:solidFill>
              <a:srgbClr val="22D3EE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31520" y="4818888"/>
            <a:ext cx="685800" cy="68580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22" name="Text 19"/>
          <p:cNvSpPr/>
          <p:nvPr/>
        </p:nvSpPr>
        <p:spPr>
          <a:xfrm>
            <a:off x="731520" y="481888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1600200" y="4800600"/>
            <a:ext cx="8366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definition</a:t>
            </a:r>
            <a:endParaRPr lang="en-US" sz="3000" dirty="0"/>
          </a:p>
        </p:txBody>
      </p:sp>
      <p:sp>
        <p:nvSpPr>
          <p:cNvPr id="24" name="Text 21"/>
          <p:cNvSpPr/>
          <p:nvPr/>
        </p:nvSpPr>
        <p:spPr>
          <a:xfrm>
            <a:off x="731520" y="5715000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</a:t>
            </a:r>
            <a:endParaRPr lang="en-US" sz="2400" dirty="0"/>
          </a:p>
        </p:txBody>
      </p:sp>
      <p:sp>
        <p:nvSpPr>
          <p:cNvPr id="25" name="Text 22"/>
          <p:cNvSpPr/>
          <p:nvPr/>
        </p:nvSpPr>
        <p:spPr>
          <a:xfrm>
            <a:off x="731520" y="6172200"/>
            <a:ext cx="9235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clinics, salons and trades reminders that never message anyone who has not opted in, and an AI receptionist that answers their phone, on one platform they control.</a:t>
            </a:r>
            <a:endParaRPr lang="en-US" sz="2300" dirty="0"/>
          </a:p>
        </p:txBody>
      </p:sp>
      <p:sp>
        <p:nvSpPr>
          <p:cNvPr id="26" name="Text 23"/>
          <p:cNvSpPr/>
          <p:nvPr/>
        </p:nvSpPr>
        <p:spPr>
          <a:xfrm>
            <a:off x="731520" y="8138160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2400" dirty="0"/>
          </a:p>
        </p:txBody>
      </p:sp>
      <p:sp>
        <p:nvSpPr>
          <p:cNvPr id="27" name="Text 24"/>
          <p:cNvSpPr/>
          <p:nvPr/>
        </p:nvSpPr>
        <p:spPr>
          <a:xfrm>
            <a:off x="731520" y="8595360"/>
            <a:ext cx="9235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businesses lose bookings to no-shows and missed calls, and cannot risk messaging people who never agreed to be contacted.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731520" y="10104120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 goals (each one checkable)</a:t>
            </a:r>
            <a:endParaRPr lang="en-US" sz="2400" dirty="0"/>
          </a:p>
        </p:txBody>
      </p:sp>
      <p:sp>
        <p:nvSpPr>
          <p:cNvPr id="29" name="Text 26"/>
          <p:cNvSpPr/>
          <p:nvPr/>
        </p:nvSpPr>
        <p:spPr>
          <a:xfrm>
            <a:off x="731520" y="10652760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gaps found against the client brief: reminder controls, templates, rescheduling, call summaries, site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8183880" y="10835640"/>
            <a:ext cx="1783080" cy="502920"/>
          </a:xfrm>
          <a:prstGeom prst="roundRect">
            <a:avLst>
              <a:gd name="adj" fmla="val 49091"/>
            </a:avLst>
          </a:prstGeom>
          <a:solidFill>
            <a:srgbClr val="10B981"/>
          </a:solidFill>
          <a:ln/>
        </p:spPr>
      </p:sp>
      <p:sp>
        <p:nvSpPr>
          <p:cNvPr id="31" name="Text 28"/>
          <p:cNvSpPr/>
          <p:nvPr/>
        </p:nvSpPr>
        <p:spPr>
          <a:xfrm>
            <a:off x="8183880" y="1083564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731520" y="11585448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delivery end to end: an email reminder lands on time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8183880" y="11768328"/>
            <a:ext cx="1783080" cy="502920"/>
          </a:xfrm>
          <a:prstGeom prst="roundRect">
            <a:avLst>
              <a:gd name="adj" fmla="val 49091"/>
            </a:avLst>
          </a:prstGeom>
          <a:solidFill>
            <a:srgbClr val="10B981"/>
          </a:solidFill>
          <a:ln/>
        </p:spPr>
      </p:sp>
      <p:sp>
        <p:nvSpPr>
          <p:cNvPr id="34" name="Text 31"/>
          <p:cNvSpPr/>
          <p:nvPr/>
        </p:nvSpPr>
        <p:spPr>
          <a:xfrm>
            <a:off x="8183880" y="11768328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731520" y="12518136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each organisation's data separate: activity, analytics, exports</a:t>
            </a:r>
            <a:endParaRPr lang="en-US" sz="2000" dirty="0"/>
          </a:p>
        </p:txBody>
      </p:sp>
      <p:sp>
        <p:nvSpPr>
          <p:cNvPr id="36" name="Shape 33"/>
          <p:cNvSpPr/>
          <p:nvPr/>
        </p:nvSpPr>
        <p:spPr>
          <a:xfrm>
            <a:off x="8183880" y="12701016"/>
            <a:ext cx="1783080" cy="502920"/>
          </a:xfrm>
          <a:prstGeom prst="roundRect">
            <a:avLst>
              <a:gd name="adj" fmla="val 49091"/>
            </a:avLst>
          </a:prstGeom>
          <a:solidFill>
            <a:srgbClr val="10B981"/>
          </a:solidFill>
          <a:ln/>
        </p:spPr>
      </p:sp>
      <p:sp>
        <p:nvSpPr>
          <p:cNvPr id="37" name="Text 34"/>
          <p:cNvSpPr/>
          <p:nvPr/>
        </p:nvSpPr>
        <p:spPr>
          <a:xfrm>
            <a:off x="8183880" y="12701016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731520" y="13450824"/>
            <a:ext cx="7223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SMS delivery: Twilio registration is in review</a:t>
            </a:r>
            <a:endParaRPr lang="en-US" sz="2000" dirty="0"/>
          </a:p>
        </p:txBody>
      </p:sp>
      <p:sp>
        <p:nvSpPr>
          <p:cNvPr id="39" name="Shape 36"/>
          <p:cNvSpPr/>
          <p:nvPr/>
        </p:nvSpPr>
        <p:spPr>
          <a:xfrm>
            <a:off x="8183880" y="13633704"/>
            <a:ext cx="1783080" cy="502920"/>
          </a:xfrm>
          <a:prstGeom prst="roundRect">
            <a:avLst>
              <a:gd name="adj" fmla="val 49091"/>
            </a:avLst>
          </a:prstGeom>
          <a:solidFill>
            <a:srgbClr val="F59E0B"/>
          </a:solidFill>
          <a:ln/>
        </p:spPr>
      </p:sp>
      <p:sp>
        <p:nvSpPr>
          <p:cNvPr id="40" name="Text 37"/>
          <p:cNvSpPr/>
          <p:nvPr/>
        </p:nvSpPr>
        <p:spPr>
          <a:xfrm>
            <a:off x="8183880" y="13633704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E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REVIEW</a:t>
            </a:r>
            <a:endParaRPr lang="en-US" sz="1600" dirty="0"/>
          </a:p>
        </p:txBody>
      </p:sp>
      <p:sp>
        <p:nvSpPr>
          <p:cNvPr id="41" name="Shape 38"/>
          <p:cNvSpPr/>
          <p:nvPr/>
        </p:nvSpPr>
        <p:spPr>
          <a:xfrm>
            <a:off x="731520" y="14557248"/>
            <a:ext cx="685800" cy="68580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42" name="Text 39"/>
          <p:cNvSpPr/>
          <p:nvPr/>
        </p:nvSpPr>
        <p:spPr>
          <a:xfrm>
            <a:off x="731520" y="1455724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43" name="Text 40"/>
          <p:cNvSpPr/>
          <p:nvPr/>
        </p:nvSpPr>
        <p:spPr>
          <a:xfrm>
            <a:off x="1600200" y="14538960"/>
            <a:ext cx="8366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integration and Q&amp;A</a:t>
            </a:r>
            <a:endParaRPr lang="en-US" sz="3000" dirty="0"/>
          </a:p>
        </p:txBody>
      </p:sp>
      <p:sp>
        <p:nvSpPr>
          <p:cNvPr id="44" name="Shape 41"/>
          <p:cNvSpPr/>
          <p:nvPr/>
        </p:nvSpPr>
        <p:spPr>
          <a:xfrm>
            <a:off x="731520" y="15407640"/>
            <a:ext cx="9235440" cy="109728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26304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960120" y="1540764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Dilraj Singh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owner, lead developer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me about: Receptionist, call summaries, cloud setup</a:t>
            </a:r>
            <a:endParaRPr lang="en-US" sz="2200" dirty="0"/>
          </a:p>
        </p:txBody>
      </p:sp>
      <p:sp>
        <p:nvSpPr>
          <p:cNvPr id="46" name="Shape 43"/>
          <p:cNvSpPr/>
          <p:nvPr/>
        </p:nvSpPr>
        <p:spPr>
          <a:xfrm>
            <a:off x="731520" y="16596360"/>
            <a:ext cx="9235440" cy="109728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263044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960120" y="1659636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Prabhjot Singh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master, full-stack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me about: Reminder controls, email, webhook security</a:t>
            </a:r>
            <a:endParaRPr lang="en-US" sz="2200" dirty="0"/>
          </a:p>
        </p:txBody>
      </p:sp>
      <p:sp>
        <p:nvSpPr>
          <p:cNvPr id="48" name="Shape 45"/>
          <p:cNvSpPr/>
          <p:nvPr/>
        </p:nvSpPr>
        <p:spPr>
          <a:xfrm>
            <a:off x="731520" y="17785080"/>
            <a:ext cx="9235440" cy="109728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263044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960120" y="1778508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Dhiman Roy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Backend: accounts and consent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me about: Templates, rescheduling, roles and API keys</a:t>
            </a:r>
            <a:endParaRPr lang="en-US" sz="2200" dirty="0"/>
          </a:p>
        </p:txBody>
      </p:sp>
      <p:sp>
        <p:nvSpPr>
          <p:cNvPr id="50" name="Shape 47"/>
          <p:cNvSpPr/>
          <p:nvPr/>
        </p:nvSpPr>
        <p:spPr>
          <a:xfrm>
            <a:off x="731520" y="18973800"/>
            <a:ext cx="9235440" cy="1097280"/>
          </a:xfrm>
          <a:prstGeom prst="roundRect">
            <a:avLst>
              <a:gd name="adj" fmla="val 10000"/>
            </a:avLst>
          </a:prstGeom>
          <a:solidFill>
            <a:srgbClr val="121826"/>
          </a:solidFill>
          <a:ln w="12700">
            <a:solidFill>
              <a:srgbClr val="263044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960120" y="1897380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Saifur Rahman Bhuiyan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Delivery, analytics, web</a:t>
            </a:r>
            <a:endParaRPr lang="en-US" sz="2200" dirty="0"/>
          </a:p>
          <a:p>
            <a:pPr indent="0" marL="0">
              <a:buNone/>
            </a:pPr>
            <a:r>
              <a:rPr lang="en-US" sz="16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me about: Live dashboard, voice languages, site</a:t>
            </a:r>
            <a:endParaRPr lang="en-US" sz="2200" dirty="0"/>
          </a:p>
        </p:txBody>
      </p:sp>
      <p:sp>
        <p:nvSpPr>
          <p:cNvPr id="52" name="Shape 49"/>
          <p:cNvSpPr/>
          <p:nvPr/>
        </p:nvSpPr>
        <p:spPr>
          <a:xfrm>
            <a:off x="10515600" y="4818888"/>
            <a:ext cx="685800" cy="68580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53" name="Text 50"/>
          <p:cNvSpPr/>
          <p:nvPr/>
        </p:nvSpPr>
        <p:spPr>
          <a:xfrm>
            <a:off x="10515600" y="481888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54" name="Text 51"/>
          <p:cNvSpPr/>
          <p:nvPr/>
        </p:nvSpPr>
        <p:spPr>
          <a:xfrm>
            <a:off x="11384280" y="4800600"/>
            <a:ext cx="8366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status and demo</a:t>
            </a:r>
            <a:endParaRPr lang="en-US" sz="3000" dirty="0"/>
          </a:p>
        </p:txBody>
      </p:sp>
      <p:sp>
        <p:nvSpPr>
          <p:cNvPr id="55" name="Text 52"/>
          <p:cNvSpPr/>
          <p:nvPr/>
        </p:nvSpPr>
        <p:spPr>
          <a:xfrm>
            <a:off x="10515600" y="5669280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now</a:t>
            </a:r>
            <a:endParaRPr lang="en-US" sz="2400" dirty="0"/>
          </a:p>
        </p:txBody>
      </p:sp>
      <p:sp>
        <p:nvSpPr>
          <p:cNvPr id="56" name="Shape 53"/>
          <p:cNvSpPr/>
          <p:nvPr/>
        </p:nvSpPr>
        <p:spPr>
          <a:xfrm>
            <a:off x="10515600" y="6217920"/>
            <a:ext cx="3474720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7" name="Image 1" descr="q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2760" y="6355080"/>
            <a:ext cx="3200400" cy="3200400"/>
          </a:xfrm>
          <a:prstGeom prst="rect">
            <a:avLst/>
          </a:prstGeom>
        </p:spPr>
      </p:pic>
      <p:sp>
        <p:nvSpPr>
          <p:cNvPr id="58" name="Text 54"/>
          <p:cNvSpPr/>
          <p:nvPr/>
        </p:nvSpPr>
        <p:spPr>
          <a:xfrm>
            <a:off x="10515600" y="97383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website</a:t>
            </a:r>
            <a:endParaRPr lang="en-US" sz="2000" dirty="0"/>
          </a:p>
        </p:txBody>
      </p:sp>
      <p:sp>
        <p:nvSpPr>
          <p:cNvPr id="59" name="Text 55"/>
          <p:cNvSpPr/>
          <p:nvPr/>
        </p:nvSpPr>
        <p:spPr>
          <a:xfrm>
            <a:off x="14264640" y="6217920"/>
            <a:ext cx="54864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Scan the code for our website, tap Open Web UI, sign in (ask us for the login)</a:t>
            </a:r>
            <a:endParaRPr lang="en-US" sz="2300" dirty="0"/>
          </a:p>
        </p:txBody>
      </p:sp>
      <p:sp>
        <p:nvSpPr>
          <p:cNvPr id="60" name="Text 56"/>
          <p:cNvSpPr/>
          <p:nvPr/>
        </p:nvSpPr>
        <p:spPr>
          <a:xfrm>
            <a:off x="10515600" y="10378440"/>
            <a:ext cx="92354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Contacts tab: opted-in and opted-out people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Reminders tab: opted-out contacts and past dates are refused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Call +1 802 444 8729: ask the hours, then say goodbye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Activity tab: the call, with its summary, sentiment and priority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MyAI tab: ask how to add a contact, or preview a patient chat</a:t>
            </a:r>
            <a:endParaRPr lang="en-US" sz="2200" dirty="0"/>
          </a:p>
        </p:txBody>
      </p:sp>
      <p:sp>
        <p:nvSpPr>
          <p:cNvPr id="61" name="Shape 57"/>
          <p:cNvSpPr/>
          <p:nvPr/>
        </p:nvSpPr>
        <p:spPr>
          <a:xfrm>
            <a:off x="10515600" y="14218920"/>
            <a:ext cx="4480560" cy="1463040"/>
          </a:xfrm>
          <a:prstGeom prst="roundRect">
            <a:avLst>
              <a:gd name="adj" fmla="val 7500"/>
            </a:avLst>
          </a:prstGeom>
          <a:solidFill>
            <a:srgbClr val="121826"/>
          </a:solidFill>
          <a:ln w="12700">
            <a:solidFill>
              <a:srgbClr val="263044"/>
            </a:solidFill>
            <a:prstDash val="solid"/>
          </a:ln>
        </p:spPr>
      </p:sp>
      <p:sp>
        <p:nvSpPr>
          <p:cNvPr id="62" name="Text 58"/>
          <p:cNvSpPr/>
          <p:nvPr/>
        </p:nvSpPr>
        <p:spPr>
          <a:xfrm>
            <a:off x="10744200" y="1424635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761</a:t>
            </a:r>
            <a:endParaRPr lang="en-US" sz="3400" dirty="0"/>
          </a:p>
        </p:txBody>
      </p:sp>
      <p:sp>
        <p:nvSpPr>
          <p:cNvPr id="63" name="Text 59"/>
          <p:cNvSpPr/>
          <p:nvPr/>
        </p:nvSpPr>
        <p:spPr>
          <a:xfrm>
            <a:off x="10744200" y="1493215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tests, run by CI on every change</a:t>
            </a:r>
            <a:endParaRPr lang="en-US" sz="1700" dirty="0"/>
          </a:p>
        </p:txBody>
      </p:sp>
      <p:sp>
        <p:nvSpPr>
          <p:cNvPr id="64" name="Shape 60"/>
          <p:cNvSpPr/>
          <p:nvPr/>
        </p:nvSpPr>
        <p:spPr>
          <a:xfrm>
            <a:off x="15270480" y="14218920"/>
            <a:ext cx="4480560" cy="1463040"/>
          </a:xfrm>
          <a:prstGeom prst="roundRect">
            <a:avLst>
              <a:gd name="adj" fmla="val 7500"/>
            </a:avLst>
          </a:prstGeom>
          <a:solidFill>
            <a:srgbClr val="121826"/>
          </a:solidFill>
          <a:ln w="12700">
            <a:solidFill>
              <a:srgbClr val="263044"/>
            </a:solidFill>
            <a:prstDash val="solid"/>
          </a:ln>
        </p:spPr>
      </p:sp>
      <p:sp>
        <p:nvSpPr>
          <p:cNvPr id="65" name="Text 61"/>
          <p:cNvSpPr/>
          <p:nvPr/>
        </p:nvSpPr>
        <p:spPr>
          <a:xfrm>
            <a:off x="15499080" y="1424635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</a:t>
            </a:r>
            <a:endParaRPr lang="en-US" sz="3400" dirty="0"/>
          </a:p>
        </p:txBody>
      </p:sp>
      <p:sp>
        <p:nvSpPr>
          <p:cNvPr id="66" name="Text 62"/>
          <p:cNvSpPr/>
          <p:nvPr/>
        </p:nvSpPr>
        <p:spPr>
          <a:xfrm>
            <a:off x="15499080" y="1493215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to any forged Twilio call</a:t>
            </a:r>
            <a:endParaRPr lang="en-US" sz="1700" dirty="0"/>
          </a:p>
        </p:txBody>
      </p:sp>
      <p:sp>
        <p:nvSpPr>
          <p:cNvPr id="67" name="Shape 63"/>
          <p:cNvSpPr/>
          <p:nvPr/>
        </p:nvSpPr>
        <p:spPr>
          <a:xfrm>
            <a:off x="10515600" y="15819120"/>
            <a:ext cx="4480560" cy="1463040"/>
          </a:xfrm>
          <a:prstGeom prst="roundRect">
            <a:avLst>
              <a:gd name="adj" fmla="val 7500"/>
            </a:avLst>
          </a:prstGeom>
          <a:solidFill>
            <a:srgbClr val="121826"/>
          </a:solidFill>
          <a:ln w="12700">
            <a:solidFill>
              <a:srgbClr val="263044"/>
            </a:solidFill>
            <a:prstDash val="solid"/>
          </a:ln>
        </p:spPr>
      </p:sp>
      <p:sp>
        <p:nvSpPr>
          <p:cNvPr id="68" name="Text 64"/>
          <p:cNvSpPr/>
          <p:nvPr/>
        </p:nvSpPr>
        <p:spPr>
          <a:xfrm>
            <a:off x="10744200" y="1584655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</a:t>
            </a:r>
            <a:endParaRPr lang="en-US" sz="3400" dirty="0"/>
          </a:p>
        </p:txBody>
      </p:sp>
      <p:sp>
        <p:nvSpPr>
          <p:cNvPr id="69" name="Text 65"/>
          <p:cNvSpPr/>
          <p:nvPr/>
        </p:nvSpPr>
        <p:spPr>
          <a:xfrm>
            <a:off x="10744200" y="1653235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reminder arrived after its send time</a:t>
            </a:r>
            <a:endParaRPr lang="en-US" sz="1700" dirty="0"/>
          </a:p>
        </p:txBody>
      </p:sp>
      <p:sp>
        <p:nvSpPr>
          <p:cNvPr id="70" name="Shape 66"/>
          <p:cNvSpPr/>
          <p:nvPr/>
        </p:nvSpPr>
        <p:spPr>
          <a:xfrm>
            <a:off x="15270480" y="15819120"/>
            <a:ext cx="4480560" cy="1463040"/>
          </a:xfrm>
          <a:prstGeom prst="roundRect">
            <a:avLst>
              <a:gd name="adj" fmla="val 7500"/>
            </a:avLst>
          </a:prstGeom>
          <a:solidFill>
            <a:srgbClr val="121826"/>
          </a:solidFill>
          <a:ln w="12700">
            <a:solidFill>
              <a:srgbClr val="263044"/>
            </a:solidFill>
            <a:prstDash val="solid"/>
          </a:ln>
        </p:spPr>
      </p:sp>
      <p:sp>
        <p:nvSpPr>
          <p:cNvPr id="71" name="Text 67"/>
          <p:cNvSpPr/>
          <p:nvPr/>
        </p:nvSpPr>
        <p:spPr>
          <a:xfrm>
            <a:off x="15499080" y="1584655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3400" dirty="0"/>
          </a:p>
        </p:txBody>
      </p:sp>
      <p:sp>
        <p:nvSpPr>
          <p:cNvPr id="72" name="Text 68"/>
          <p:cNvSpPr/>
          <p:nvPr/>
        </p:nvSpPr>
        <p:spPr>
          <a:xfrm>
            <a:off x="15499080" y="1653235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call answered by voice</a:t>
            </a:r>
            <a:endParaRPr lang="en-US" sz="1700" dirty="0"/>
          </a:p>
        </p:txBody>
      </p:sp>
      <p:sp>
        <p:nvSpPr>
          <p:cNvPr id="73" name="Text 69"/>
          <p:cNvSpPr/>
          <p:nvPr/>
        </p:nvSpPr>
        <p:spPr>
          <a:xfrm>
            <a:off x="10515600" y="17556480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we found and fixed</a:t>
            </a:r>
            <a:endParaRPr lang="en-US" sz="2400" dirty="0"/>
          </a:p>
        </p:txBody>
      </p:sp>
      <p:sp>
        <p:nvSpPr>
          <p:cNvPr id="74" name="Text 70"/>
          <p:cNvSpPr/>
          <p:nvPr/>
        </p:nvSpPr>
        <p:spPr>
          <a:xfrm>
            <a:off x="10515600" y="18059400"/>
            <a:ext cx="92354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dropped our connection: fixed the hostname we announce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Forged calls could reach the receptionist: every webhook is signature-checked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counted every call turn as a call: counts real calls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showed invented rates: now live data only</a:t>
            </a:r>
            <a:endParaRPr lang="en-US" sz="17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Reminder only wrote a log row: it now really sends</a:t>
            </a:r>
            <a:endParaRPr lang="en-US" sz="1700" dirty="0"/>
          </a:p>
        </p:txBody>
      </p:sp>
      <p:sp>
        <p:nvSpPr>
          <p:cNvPr id="75" name="Shape 71"/>
          <p:cNvSpPr/>
          <p:nvPr/>
        </p:nvSpPr>
        <p:spPr>
          <a:xfrm>
            <a:off x="20299680" y="4818888"/>
            <a:ext cx="685800" cy="68580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76" name="Text 72"/>
          <p:cNvSpPr/>
          <p:nvPr/>
        </p:nvSpPr>
        <p:spPr>
          <a:xfrm>
            <a:off x="20299680" y="481888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77" name="Text 73"/>
          <p:cNvSpPr/>
          <p:nvPr/>
        </p:nvSpPr>
        <p:spPr>
          <a:xfrm>
            <a:off x="21168360" y="4800600"/>
            <a:ext cx="8366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and problem solving</a:t>
            </a:r>
            <a:endParaRPr lang="en-US" sz="3000" dirty="0"/>
          </a:p>
        </p:txBody>
      </p:sp>
      <p:sp>
        <p:nvSpPr>
          <p:cNvPr id="78" name="Shape 74"/>
          <p:cNvSpPr/>
          <p:nvPr/>
        </p:nvSpPr>
        <p:spPr>
          <a:xfrm>
            <a:off x="20299680" y="5715000"/>
            <a:ext cx="9235440" cy="4114800"/>
          </a:xfrm>
          <a:prstGeom prst="roundRect">
            <a:avLst>
              <a:gd name="adj" fmla="val 2667"/>
            </a:avLst>
          </a:prstGeom>
          <a:solidFill>
            <a:srgbClr val="121826"/>
          </a:solidFill>
          <a:ln w="31750">
            <a:solidFill>
              <a:srgbClr val="10B981"/>
            </a:solidFill>
            <a:prstDash val="solid"/>
          </a:ln>
        </p:spPr>
      </p:sp>
      <p:sp>
        <p:nvSpPr>
          <p:cNvPr id="79" name="Text 75"/>
          <p:cNvSpPr/>
          <p:nvPr/>
        </p:nvSpPr>
        <p:spPr>
          <a:xfrm>
            <a:off x="20574000" y="582472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Finished and live</a:t>
            </a:r>
            <a:endParaRPr lang="en-US" sz="2400" dirty="0"/>
          </a:p>
        </p:txBody>
      </p:sp>
      <p:sp>
        <p:nvSpPr>
          <p:cNvPr id="80" name="Text 76"/>
          <p:cNvSpPr/>
          <p:nvPr/>
        </p:nvSpPr>
        <p:spPr>
          <a:xfrm>
            <a:off x="20574000" y="6446520"/>
            <a:ext cx="8686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Accounts, contacts, CSV import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Consent, STOP, quiet hours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Reminders: repeat, pause, templates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receptionist, call summaries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Roles, API keys, MyAI help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Contacts kept across restarts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checks with a live call</a:t>
            </a:r>
            <a:endParaRPr lang="en-US" sz="2200" dirty="0"/>
          </a:p>
        </p:txBody>
      </p:sp>
      <p:sp>
        <p:nvSpPr>
          <p:cNvPr id="81" name="Shape 77"/>
          <p:cNvSpPr/>
          <p:nvPr/>
        </p:nvSpPr>
        <p:spPr>
          <a:xfrm>
            <a:off x="20299680" y="10012680"/>
            <a:ext cx="9235440" cy="2011680"/>
          </a:xfrm>
          <a:prstGeom prst="roundRect">
            <a:avLst>
              <a:gd name="adj" fmla="val 5455"/>
            </a:avLst>
          </a:prstGeom>
          <a:solidFill>
            <a:srgbClr val="121826"/>
          </a:solidFill>
          <a:ln w="31750">
            <a:solidFill>
              <a:srgbClr val="F59E0B"/>
            </a:solidFill>
            <a:prstDash val="solid"/>
          </a:ln>
        </p:spPr>
      </p:sp>
      <p:sp>
        <p:nvSpPr>
          <p:cNvPr id="82" name="Text 78"/>
          <p:cNvSpPr/>
          <p:nvPr/>
        </p:nvSpPr>
        <p:spPr>
          <a:xfrm>
            <a:off x="20574000" y="1012240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2400" dirty="0"/>
          </a:p>
        </p:txBody>
      </p:sp>
      <p:sp>
        <p:nvSpPr>
          <p:cNvPr id="83" name="Text 79"/>
          <p:cNvSpPr/>
          <p:nvPr/>
        </p:nvSpPr>
        <p:spPr>
          <a:xfrm>
            <a:off x="20574000" y="1074420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SMS: Twilio registration in review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 mini installation in process</a:t>
            </a:r>
            <a:endParaRPr lang="en-US" sz="2200" dirty="0"/>
          </a:p>
        </p:txBody>
      </p:sp>
      <p:sp>
        <p:nvSpPr>
          <p:cNvPr id="84" name="Shape 80"/>
          <p:cNvSpPr/>
          <p:nvPr/>
        </p:nvSpPr>
        <p:spPr>
          <a:xfrm>
            <a:off x="20299680" y="12207240"/>
            <a:ext cx="9235440" cy="2011680"/>
          </a:xfrm>
          <a:prstGeom prst="roundRect">
            <a:avLst>
              <a:gd name="adj" fmla="val 5455"/>
            </a:avLst>
          </a:prstGeom>
          <a:solidFill>
            <a:srgbClr val="121826"/>
          </a:solidFill>
          <a:ln w="31750">
            <a:solidFill>
              <a:srgbClr val="818CF8"/>
            </a:solidFill>
            <a:prstDash val="solid"/>
          </a:ln>
        </p:spPr>
      </p:sp>
      <p:sp>
        <p:nvSpPr>
          <p:cNvPr id="85" name="Text 81"/>
          <p:cNvSpPr/>
          <p:nvPr/>
        </p:nvSpPr>
        <p:spPr>
          <a:xfrm>
            <a:off x="20574000" y="12316968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to do</a:t>
            </a:r>
            <a:endParaRPr lang="en-US" sz="2400" dirty="0"/>
          </a:p>
        </p:txBody>
      </p:sp>
      <p:sp>
        <p:nvSpPr>
          <p:cNvPr id="86" name="Text 82"/>
          <p:cNvSpPr/>
          <p:nvPr/>
        </p:nvSpPr>
        <p:spPr>
          <a:xfrm>
            <a:off x="20574000" y="1293876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Recordings, handover pack</a:t>
            </a:r>
            <a:endParaRPr lang="en-US" sz="2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2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feedback</a:t>
            </a:r>
            <a:endParaRPr lang="en-US" sz="2200" dirty="0"/>
          </a:p>
        </p:txBody>
      </p:sp>
      <p:sp>
        <p:nvSpPr>
          <p:cNvPr id="87" name="Shape 83"/>
          <p:cNvSpPr/>
          <p:nvPr/>
        </p:nvSpPr>
        <p:spPr>
          <a:xfrm>
            <a:off x="20299680" y="14401800"/>
            <a:ext cx="9235440" cy="2103120"/>
          </a:xfrm>
          <a:prstGeom prst="roundRect">
            <a:avLst>
              <a:gd name="adj" fmla="val 5217"/>
            </a:avLst>
          </a:prstGeom>
          <a:solidFill>
            <a:srgbClr val="121826"/>
          </a:solidFill>
          <a:ln w="12700">
            <a:solidFill>
              <a:srgbClr val="263044"/>
            </a:solidFill>
            <a:prstDash val="solid"/>
          </a:ln>
        </p:spPr>
      </p:sp>
      <p:sp>
        <p:nvSpPr>
          <p:cNvPr id="88" name="Text 84"/>
          <p:cNvSpPr/>
          <p:nvPr/>
        </p:nvSpPr>
        <p:spPr>
          <a:xfrm>
            <a:off x="20574000" y="14401800"/>
            <a:ext cx="86868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to completion:  </a:t>
            </a:r>
            <a:pPr indent="0" marL="0">
              <a:buNone/>
            </a:pPr>
            <a:r>
              <a:rPr lang="en-US" sz="2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approval (Prabhjot)  →  Mac mini installation (Dilraj)  →  recordings and handover pack (all)</a:t>
            </a:r>
            <a:endParaRPr lang="en-US" sz="2100" dirty="0"/>
          </a:p>
        </p:txBody>
      </p:sp>
      <p:sp>
        <p:nvSpPr>
          <p:cNvPr id="89" name="Text 85"/>
          <p:cNvSpPr/>
          <p:nvPr/>
        </p:nvSpPr>
        <p:spPr>
          <a:xfrm>
            <a:off x="20299680" y="16733520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and what we are doing</a:t>
            </a:r>
            <a:endParaRPr lang="en-US" sz="2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299680" y="17282160"/>
          <a:ext cx="9235440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475488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8FAF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are doing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 waits on Twilio registration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review; voice and email work now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demo needs a network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recording ready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 data must stay private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Consent first; each organisation separate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 tickets did not match the code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Audited every ticket against the code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63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0"/>
                    </a:solidFill>
                  </a:tcPr>
                </a:tc>
              </a:tr>
            </a:tbl>
          </a:graphicData>
        </a:graphic>
      </p:graphicFrame>
      <p:sp>
        <p:nvSpPr>
          <p:cNvPr id="91" name="Text 86"/>
          <p:cNvSpPr/>
          <p:nvPr/>
        </p:nvSpPr>
        <p:spPr>
          <a:xfrm>
            <a:off x="731520" y="20985480"/>
            <a:ext cx="2880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 · SQLite · Twilio · Claude · Docker      Cloud based. Demo clinic and data are fictional.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2026-10-14T18:27:31Z</dcterms:created>
  <dcterms:modified xsi:type="dcterms:W3CDTF">2026-10-14T18:27:31Z</dcterms:modified>
</cp:coreProperties>
</file>