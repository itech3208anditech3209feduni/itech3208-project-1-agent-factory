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356616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1956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Reminders that respect consent, and an AI receptionist that answers the phone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956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ITECH3208 / 3209  ·  Federation University  ·  Client: Zakir Ullah Shah  ·  Sprint 5 poster session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913632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13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74520" y="3886200"/>
            <a:ext cx="1856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definition: goal and sprint goals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534924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clinics, salons and trades reminders that never message anyone who has not opted in, and an AI receptionist that answers their phone, on one platform they control.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73152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777240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lose bookings to no-shows and missed calls, and cannot risk messaging people who never agreed to be contacted.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789920" y="4846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goals (each one checkable)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789920" y="53949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gaps found against the client brief: reminder controls, templates, rescheduling, call summaries, site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9065240" y="553212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19065240" y="5532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0" y="62636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delivery end to end: an email reminder lands on time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9065240" y="640080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19065240" y="6400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89920" y="71323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organisation's data separate: activity, analytics, exports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9065240" y="726948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2E7D5B"/>
          </a:solidFill>
          <a:ln/>
        </p:spPr>
      </p:sp>
      <p:sp>
        <p:nvSpPr>
          <p:cNvPr id="22" name="Text 20"/>
          <p:cNvSpPr/>
          <p:nvPr/>
        </p:nvSpPr>
        <p:spPr>
          <a:xfrm>
            <a:off x="19065240" y="7269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89920" y="8001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SMS delivery: Twilio registration is in review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9065240" y="813816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A9701B"/>
          </a:solidFill>
          <a:ln/>
        </p:spPr>
      </p:sp>
      <p:sp>
        <p:nvSpPr>
          <p:cNvPr id="25" name="Text 23"/>
          <p:cNvSpPr/>
          <p:nvPr/>
        </p:nvSpPr>
        <p:spPr>
          <a:xfrm>
            <a:off x="19065240" y="8138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8942832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8942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874520" y="8915400"/>
            <a:ext cx="1856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status and demo: try it now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914400" y="9921240"/>
            <a:ext cx="13990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Scan the code for our website, tap Open Web UI, sign in (ask us for the login)</a:t>
            </a:r>
            <a:endParaRPr lang="en-US" sz="2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Contacts tab: opted-in and opted-out people</a:t>
            </a:r>
            <a:endParaRPr lang="en-US" sz="2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Reminders tab: opted-out contacts and past dates are refused</a:t>
            </a:r>
            <a:endParaRPr lang="en-US" sz="2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Call +1 802 444 8729: ask the hours, then say goodbye</a:t>
            </a:r>
            <a:endParaRPr lang="en-US" sz="2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Activity tab: the call, with its summary, sentiment and priority</a:t>
            </a:r>
            <a:endParaRPr lang="en-US" sz="2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MyAI tab: ask how to add a contact, or preview a patient chat</a:t>
            </a:r>
            <a:endParaRPr lang="en-US" sz="2700" dirty="0"/>
          </a:p>
        </p:txBody>
      </p:sp>
      <p:pic>
        <p:nvPicPr>
          <p:cNvPr id="30" name="Image 0" descr="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0" y="9829800"/>
            <a:ext cx="3931920" cy="39319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819120" y="1380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website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914400" y="14584680"/>
            <a:ext cx="4663440" cy="160020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97280" y="1463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761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1097280" y="1540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run by CI on every change</a:t>
            </a:r>
            <a:endParaRPr lang="en-US" sz="1900" dirty="0"/>
          </a:p>
        </p:txBody>
      </p:sp>
      <p:sp>
        <p:nvSpPr>
          <p:cNvPr id="35" name="Shape 32"/>
          <p:cNvSpPr/>
          <p:nvPr/>
        </p:nvSpPr>
        <p:spPr>
          <a:xfrm>
            <a:off x="5879592" y="14584680"/>
            <a:ext cx="4663440" cy="160020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62472" y="1463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4000" dirty="0"/>
          </a:p>
        </p:txBody>
      </p:sp>
      <p:sp>
        <p:nvSpPr>
          <p:cNvPr id="37" name="Text 34"/>
          <p:cNvSpPr/>
          <p:nvPr/>
        </p:nvSpPr>
        <p:spPr>
          <a:xfrm>
            <a:off x="6062472" y="1540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any forged Twilio call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10844784" y="14584680"/>
            <a:ext cx="4663440" cy="160020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027664" y="1463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</a:t>
            </a:r>
            <a:endParaRPr lang="en-US" sz="4000" dirty="0"/>
          </a:p>
        </p:txBody>
      </p:sp>
      <p:sp>
        <p:nvSpPr>
          <p:cNvPr id="40" name="Text 37"/>
          <p:cNvSpPr/>
          <p:nvPr/>
        </p:nvSpPr>
        <p:spPr>
          <a:xfrm>
            <a:off x="11027664" y="1540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 arrived after its send time</a:t>
            </a:r>
            <a:endParaRPr lang="en-US" sz="1900" dirty="0"/>
          </a:p>
        </p:txBody>
      </p:sp>
      <p:sp>
        <p:nvSpPr>
          <p:cNvPr id="41" name="Shape 38"/>
          <p:cNvSpPr/>
          <p:nvPr/>
        </p:nvSpPr>
        <p:spPr>
          <a:xfrm>
            <a:off x="15809976" y="14584680"/>
            <a:ext cx="4663440" cy="160020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5992856" y="1463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4000" dirty="0"/>
          </a:p>
        </p:txBody>
      </p:sp>
      <p:sp>
        <p:nvSpPr>
          <p:cNvPr id="43" name="Text 40"/>
          <p:cNvSpPr/>
          <p:nvPr/>
        </p:nvSpPr>
        <p:spPr>
          <a:xfrm>
            <a:off x="15992856" y="1540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call answered by voice</a:t>
            </a:r>
            <a:endParaRPr lang="en-US" sz="1900" dirty="0"/>
          </a:p>
        </p:txBody>
      </p:sp>
      <p:sp>
        <p:nvSpPr>
          <p:cNvPr id="44" name="Shape 41"/>
          <p:cNvSpPr/>
          <p:nvPr/>
        </p:nvSpPr>
        <p:spPr>
          <a:xfrm>
            <a:off x="914400" y="16596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24128" y="1659636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+ CRM</a:t>
            </a:r>
            <a:endParaRPr lang="en-US" sz="25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contacts</a:t>
            </a:r>
            <a:endParaRPr lang="en-US" sz="2500" dirty="0"/>
          </a:p>
        </p:txBody>
      </p:sp>
      <p:sp>
        <p:nvSpPr>
          <p:cNvPr id="46" name="Shape 43"/>
          <p:cNvSpPr/>
          <p:nvPr/>
        </p:nvSpPr>
        <p:spPr>
          <a:xfrm>
            <a:off x="4937760" y="16596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C9A227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47488" y="1659636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25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STOP, quiet hours</a:t>
            </a:r>
            <a:endParaRPr lang="en-US" sz="2500" dirty="0"/>
          </a:p>
        </p:txBody>
      </p:sp>
      <p:sp>
        <p:nvSpPr>
          <p:cNvPr id="48" name="Shape 45"/>
          <p:cNvSpPr/>
          <p:nvPr/>
        </p:nvSpPr>
        <p:spPr>
          <a:xfrm>
            <a:off x="8961120" y="16596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070848" y="1659636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engine</a:t>
            </a:r>
            <a:endParaRPr lang="en-US" sz="25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sends</a:t>
            </a:r>
            <a:endParaRPr lang="en-US" sz="2500" dirty="0"/>
          </a:p>
        </p:txBody>
      </p:sp>
      <p:sp>
        <p:nvSpPr>
          <p:cNvPr id="50" name="Shape 47"/>
          <p:cNvSpPr/>
          <p:nvPr/>
        </p:nvSpPr>
        <p:spPr>
          <a:xfrm>
            <a:off x="12984480" y="16596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3094208" y="1659636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voice, email</a:t>
            </a:r>
            <a:endParaRPr lang="en-US" sz="25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and SMTP</a:t>
            </a:r>
            <a:endParaRPr lang="en-US" sz="2500" dirty="0"/>
          </a:p>
        </p:txBody>
      </p:sp>
      <p:sp>
        <p:nvSpPr>
          <p:cNvPr id="52" name="Shape 49"/>
          <p:cNvSpPr/>
          <p:nvPr/>
        </p:nvSpPr>
        <p:spPr>
          <a:xfrm>
            <a:off x="17007840" y="165963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7117568" y="1659636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</a:t>
            </a:r>
            <a:endParaRPr lang="en-US" sz="25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FAQ, handoff, booking</a:t>
            </a:r>
            <a:endParaRPr lang="en-US" sz="2500" dirty="0"/>
          </a:p>
        </p:txBody>
      </p:sp>
      <p:sp>
        <p:nvSpPr>
          <p:cNvPr id="54" name="Shape 51"/>
          <p:cNvSpPr/>
          <p:nvPr/>
        </p:nvSpPr>
        <p:spPr>
          <a:xfrm>
            <a:off x="4434840" y="17305020"/>
            <a:ext cx="457200" cy="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8458200" y="17305020"/>
            <a:ext cx="457200" cy="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12481560" y="17305020"/>
            <a:ext cx="457200" cy="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16504920" y="17305020"/>
            <a:ext cx="457200" cy="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914400" y="18498312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9" name="Text 56"/>
          <p:cNvSpPr/>
          <p:nvPr/>
        </p:nvSpPr>
        <p:spPr>
          <a:xfrm>
            <a:off x="914400" y="18498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0" name="Text 57"/>
          <p:cNvSpPr/>
          <p:nvPr/>
        </p:nvSpPr>
        <p:spPr>
          <a:xfrm>
            <a:off x="1874520" y="18470880"/>
            <a:ext cx="1856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and problem solving</a:t>
            </a:r>
            <a:endParaRPr lang="en-US" sz="4200" dirty="0"/>
          </a:p>
        </p:txBody>
      </p:sp>
      <p:sp>
        <p:nvSpPr>
          <p:cNvPr id="61" name="Shape 58"/>
          <p:cNvSpPr/>
          <p:nvPr/>
        </p:nvSpPr>
        <p:spPr>
          <a:xfrm>
            <a:off x="914400" y="19431000"/>
            <a:ext cx="6309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100">
            <a:solidFill>
              <a:srgbClr val="2E7D5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143000" y="195407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and live</a:t>
            </a:r>
            <a:endParaRPr lang="en-US" sz="2500" dirty="0"/>
          </a:p>
        </p:txBody>
      </p:sp>
      <p:sp>
        <p:nvSpPr>
          <p:cNvPr id="63" name="Text 60"/>
          <p:cNvSpPr/>
          <p:nvPr/>
        </p:nvSpPr>
        <p:spPr>
          <a:xfrm>
            <a:off x="1143000" y="20116800"/>
            <a:ext cx="5852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contacts, CSV import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STOP, quiet hours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Reminders: repeat, pause, templates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receptionist, call summaries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API keys, MyAI help</a:t>
            </a:r>
            <a:endParaRPr lang="en-US" sz="2200" dirty="0"/>
          </a:p>
        </p:txBody>
      </p:sp>
      <p:sp>
        <p:nvSpPr>
          <p:cNvPr id="64" name="Shape 61"/>
          <p:cNvSpPr/>
          <p:nvPr/>
        </p:nvSpPr>
        <p:spPr>
          <a:xfrm>
            <a:off x="7543800" y="19431000"/>
            <a:ext cx="6309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100">
            <a:solidFill>
              <a:srgbClr val="A9701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772400" y="195407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97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2500" dirty="0"/>
          </a:p>
        </p:txBody>
      </p:sp>
      <p:sp>
        <p:nvSpPr>
          <p:cNvPr id="66" name="Text 63"/>
          <p:cNvSpPr/>
          <p:nvPr/>
        </p:nvSpPr>
        <p:spPr>
          <a:xfrm>
            <a:off x="7772400" y="20116800"/>
            <a:ext cx="5852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SMS: Twilio registration in review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kept across restarts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checks with a live call</a:t>
            </a:r>
            <a:endParaRPr lang="en-US" sz="2200" dirty="0"/>
          </a:p>
        </p:txBody>
      </p:sp>
      <p:sp>
        <p:nvSpPr>
          <p:cNvPr id="67" name="Shape 64"/>
          <p:cNvSpPr/>
          <p:nvPr/>
        </p:nvSpPr>
        <p:spPr>
          <a:xfrm>
            <a:off x="14173200" y="19431000"/>
            <a:ext cx="6309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100">
            <a:solidFill>
              <a:srgbClr val="1B2A49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4401800" y="195407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do</a:t>
            </a:r>
            <a:endParaRPr lang="en-US" sz="2500" dirty="0"/>
          </a:p>
        </p:txBody>
      </p:sp>
      <p:sp>
        <p:nvSpPr>
          <p:cNvPr id="69" name="Text 66"/>
          <p:cNvSpPr/>
          <p:nvPr/>
        </p:nvSpPr>
        <p:spPr>
          <a:xfrm>
            <a:off x="14401800" y="20116800"/>
            <a:ext cx="5852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Recordings, handover pack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and interviews</a:t>
            </a:r>
            <a:endParaRPr lang="en-US" sz="2200" dirty="0"/>
          </a:p>
        </p:txBody>
      </p:sp>
      <p:sp>
        <p:nvSpPr>
          <p:cNvPr id="70" name="Shape 67"/>
          <p:cNvSpPr/>
          <p:nvPr/>
        </p:nvSpPr>
        <p:spPr>
          <a:xfrm>
            <a:off x="914400" y="22631400"/>
            <a:ext cx="19568160" cy="137160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188720" y="22631400"/>
            <a:ext cx="1901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completion:  </a:t>
            </a:r>
            <a:pPr indent="0" marL="0">
              <a:buNone/>
            </a:pPr>
            <a:r>
              <a:rPr lang="en-US" sz="2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call (Dilraj)  →  SMS approval (Prabhjot)  →  recordings and handover pack (all)  →  journals and interviews (everyone)</a:t>
            </a:r>
            <a:endParaRPr lang="en-US" sz="2100" dirty="0"/>
          </a:p>
        </p:txBody>
      </p:sp>
      <p:sp>
        <p:nvSpPr>
          <p:cNvPr id="72" name="Text 69"/>
          <p:cNvSpPr/>
          <p:nvPr/>
        </p:nvSpPr>
        <p:spPr>
          <a:xfrm>
            <a:off x="914400" y="24185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found and fixed</a:t>
            </a:r>
            <a:endParaRPr lang="en-US" sz="2500" dirty="0"/>
          </a:p>
        </p:txBody>
      </p:sp>
      <p:sp>
        <p:nvSpPr>
          <p:cNvPr id="73" name="Text 70"/>
          <p:cNvSpPr/>
          <p:nvPr/>
        </p:nvSpPr>
        <p:spPr>
          <a:xfrm>
            <a:off x="914400" y="24734520"/>
            <a:ext cx="9509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dropped our connection: fixed the hostname we announce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calls could reach the receptionist: every webhook is signature-checked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counted every call turn as a call: counts real calls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showed invented rates: now live data only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Reminder only wrote a log row: it now really sends</a:t>
            </a:r>
            <a:endParaRPr lang="en-US" sz="1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881360" y="24231600"/>
          <a:ext cx="96012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are doing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waits on Twilio registration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review; voice and email work now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needs a network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recording ready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data must stay private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first; each organisation separate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tickets did not match the code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Audited every ticket against the code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" name="Shape 71"/>
          <p:cNvSpPr/>
          <p:nvPr/>
        </p:nvSpPr>
        <p:spPr>
          <a:xfrm>
            <a:off x="914400" y="27596592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6" name="Text 72"/>
          <p:cNvSpPr/>
          <p:nvPr/>
        </p:nvSpPr>
        <p:spPr>
          <a:xfrm>
            <a:off x="914400" y="27596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77" name="Text 73"/>
          <p:cNvSpPr/>
          <p:nvPr/>
        </p:nvSpPr>
        <p:spPr>
          <a:xfrm>
            <a:off x="1874520" y="27569160"/>
            <a:ext cx="1856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Team: everyone owns a part and can answer for it</a:t>
            </a:r>
            <a:endParaRPr lang="en-US" sz="4200" dirty="0"/>
          </a:p>
        </p:txBody>
      </p:sp>
      <p:sp>
        <p:nvSpPr>
          <p:cNvPr id="78" name="Shape 74"/>
          <p:cNvSpPr/>
          <p:nvPr/>
        </p:nvSpPr>
        <p:spPr>
          <a:xfrm>
            <a:off x="914400" y="2852928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1051560" y="285292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Dilraj Singh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owner, lead developer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about: Receptionist, call summaries, cloud setup</a:t>
            </a:r>
            <a:endParaRPr lang="en-US" sz="2200" dirty="0"/>
          </a:p>
        </p:txBody>
      </p:sp>
      <p:sp>
        <p:nvSpPr>
          <p:cNvPr id="80" name="Shape 76"/>
          <p:cNvSpPr/>
          <p:nvPr/>
        </p:nvSpPr>
        <p:spPr>
          <a:xfrm>
            <a:off x="5879592" y="2852928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6016752" y="285292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Prabhjot Singh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master, full-stack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about: Reminder controls, email, webhook security</a:t>
            </a:r>
            <a:endParaRPr lang="en-US" sz="2200" dirty="0"/>
          </a:p>
        </p:txBody>
      </p:sp>
      <p:sp>
        <p:nvSpPr>
          <p:cNvPr id="82" name="Shape 78"/>
          <p:cNvSpPr/>
          <p:nvPr/>
        </p:nvSpPr>
        <p:spPr>
          <a:xfrm>
            <a:off x="10844784" y="2852928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10981944" y="285292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Dhiman Roy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accounts and consent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about: Templates, rescheduling, roles and API keys</a:t>
            </a:r>
            <a:endParaRPr lang="en-US" sz="2200" dirty="0"/>
          </a:p>
        </p:txBody>
      </p:sp>
      <p:sp>
        <p:nvSpPr>
          <p:cNvPr id="84" name="Shape 80"/>
          <p:cNvSpPr/>
          <p:nvPr/>
        </p:nvSpPr>
        <p:spPr>
          <a:xfrm>
            <a:off x="15809976" y="2852928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15947136" y="285292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Saifur Rahman Bhuiyan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analytics, web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about: Live dashboard, voice languages, site</a:t>
            </a:r>
            <a:endParaRPr lang="en-US" sz="2200" dirty="0"/>
          </a:p>
        </p:txBody>
      </p:sp>
      <p:sp>
        <p:nvSpPr>
          <p:cNvPr id="86" name="Text 82"/>
          <p:cNvSpPr/>
          <p:nvPr/>
        </p:nvSpPr>
        <p:spPr>
          <a:xfrm>
            <a:off x="914400" y="29974032"/>
            <a:ext cx="1956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SQLite · Twilio · Claude · Docker      Cloud based. Demo clinic and data are fictional.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2026-10-14T18:18:05Z</dcterms:created>
  <dcterms:modified xsi:type="dcterms:W3CDTF">2026-10-14T18:18:05Z</dcterms:modified>
</cp:coreProperties>
</file>