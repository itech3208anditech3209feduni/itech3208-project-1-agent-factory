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387816" cy="30275784"/>
  <p:notesSz cx="30275784" cy="2138781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87816" cy="4754880"/>
          </a:xfrm>
          <a:prstGeom prst="rect">
            <a:avLst/>
          </a:prstGeom>
          <a:solidFill>
            <a:srgbClr val="1B2A4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40080"/>
            <a:ext cx="1280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6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FACTORY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920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reminder and communication service works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920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D9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Consent-first reminders by SMS, voice and email, with an AI receptionist on the same stack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solve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6309360"/>
            <a:ext cx="9509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3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Clinics, salons and trades lose money to no-shows and spend hours phoning people.</a:t>
            </a:r>
            <a:endParaRPr lang="en-US" sz="3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3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client wanted a service they can trust: every message respects consent, and customer data stays under their control.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1155680" y="5394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1155680" y="6309360"/>
            <a:ext cx="9326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Organisations register and manage contacts</a:t>
            </a:r>
            <a:endParaRPr lang="en-US" sz="3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one-off and recurring reminders</a:t>
            </a:r>
            <a:endParaRPr lang="en-US" sz="3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by SMS, voice and email</a:t>
            </a:r>
            <a:endParaRPr lang="en-US" sz="3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calls with an AI receptionist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14400" y="9875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914400" y="10881360"/>
            <a:ext cx="19568160" cy="8778240"/>
          </a:xfrm>
          <a:prstGeom prst="roundRect">
            <a:avLst>
              <a:gd name="adj" fmla="val 1563"/>
            </a:avLst>
          </a:prstGeom>
          <a:solidFill>
            <a:srgbClr val="F8F9FC"/>
          </a:solidFill>
          <a:ln w="19050">
            <a:solidFill>
              <a:srgbClr val="C9D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11338560"/>
            <a:ext cx="4206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1B2A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113385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3200" dirty="0"/>
          </a:p>
          <a:p>
            <a:pPr algn="ctr" indent="0" marL="0">
              <a:buNone/>
            </a:pPr>
            <a:r>
              <a:rPr lang="en-US" sz="2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text, email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6400800" y="11338560"/>
            <a:ext cx="4206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1B2A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13385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</a:t>
            </a:r>
            <a:endParaRPr lang="en-US" sz="3200" dirty="0"/>
          </a:p>
          <a:p>
            <a:pPr algn="ctr" indent="0" marL="0">
              <a:buNone/>
            </a:pPr>
            <a:r>
              <a:rPr lang="en-US" sz="2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and SMS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11430000" y="11338560"/>
            <a:ext cx="4206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1B2A4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0" y="113385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(SMTP)</a:t>
            </a:r>
            <a:endParaRPr lang="en-US" sz="3200" dirty="0"/>
          </a:p>
          <a:p>
            <a:pPr algn="ctr" indent="0" marL="0">
              <a:buNone/>
            </a:pPr>
            <a:r>
              <a:rPr lang="en-US" sz="2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reminders, password reset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16459200" y="11338560"/>
            <a:ext cx="36576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25400">
            <a:solidFill>
              <a:srgbClr val="1B2A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642080" y="1133856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3200" dirty="0"/>
          </a:p>
          <a:p>
            <a:pPr algn="ctr" indent="0" marL="0">
              <a:buNone/>
            </a:pPr>
            <a:r>
              <a:rPr lang="en-US" sz="2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replies, summaries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1371600" y="13807440"/>
            <a:ext cx="18745200" cy="2834640"/>
          </a:xfrm>
          <a:prstGeom prst="roundRect">
            <a:avLst>
              <a:gd name="adj" fmla="val 3871"/>
            </a:avLst>
          </a:prstGeom>
          <a:solidFill>
            <a:srgbClr val="1B2A49"/>
          </a:solidFill>
          <a:ln w="12700">
            <a:solidFill>
              <a:srgbClr val="1B2A4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13853160"/>
            <a:ext cx="1828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container: FastAPI web app, reminder scheduler, web bridge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1737360" y="14584680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1B2A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20240" y="145846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+ CRM</a:t>
            </a:r>
            <a:endParaRPr lang="en-US" sz="3200" dirty="0"/>
          </a:p>
          <a:p>
            <a:pPr algn="ctr" indent="0" marL="0">
              <a:buNone/>
            </a:pPr>
            <a:r>
              <a:rPr lang="en-US" sz="2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contacts, dashboard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6400800" y="14584680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C9A227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145846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gate</a:t>
            </a:r>
            <a:endParaRPr lang="en-US" sz="3200" dirty="0"/>
          </a:p>
          <a:p>
            <a:pPr algn="ctr" indent="0" marL="0">
              <a:buNone/>
            </a:pPr>
            <a:r>
              <a:rPr lang="en-US" sz="2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opt-in, STOP, quiet hours</a:t>
            </a:r>
            <a:endParaRPr lang="en-US" sz="3200" dirty="0"/>
          </a:p>
        </p:txBody>
      </p:sp>
      <p:sp>
        <p:nvSpPr>
          <p:cNvPr id="26" name="Shape 24"/>
          <p:cNvSpPr/>
          <p:nvPr/>
        </p:nvSpPr>
        <p:spPr>
          <a:xfrm>
            <a:off x="11064240" y="14584680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1B2A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247120" y="145846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engine</a:t>
            </a:r>
            <a:endParaRPr lang="en-US" sz="3200" dirty="0"/>
          </a:p>
          <a:p>
            <a:pPr algn="ctr" indent="0" marL="0">
              <a:buNone/>
            </a:pPr>
            <a:r>
              <a:rPr lang="en-US" sz="2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claim, DST-safe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15727680" y="14584680"/>
            <a:ext cx="40233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1B2A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5910560" y="145846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receptionist</a:t>
            </a:r>
            <a:endParaRPr lang="en-US" sz="3200" dirty="0"/>
          </a:p>
          <a:p>
            <a:pPr algn="ctr" indent="0" marL="0">
              <a:buNone/>
            </a:pPr>
            <a:r>
              <a:rPr lang="en-US" sz="2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FAQ, booking, handoff</a:t>
            </a:r>
            <a:endParaRPr lang="en-US" sz="3200" dirty="0"/>
          </a:p>
        </p:txBody>
      </p:sp>
      <p:sp>
        <p:nvSpPr>
          <p:cNvPr id="30" name="Shape 28"/>
          <p:cNvSpPr/>
          <p:nvPr/>
        </p:nvSpPr>
        <p:spPr>
          <a:xfrm>
            <a:off x="1371600" y="17373600"/>
            <a:ext cx="58521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1B2A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554480" y="173736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CRM store</a:t>
            </a:r>
            <a:endParaRPr lang="en-US" sz="3200" dirty="0"/>
          </a:p>
          <a:p>
            <a:pPr algn="ctr" indent="0" marL="0">
              <a:buNone/>
            </a:pPr>
            <a:r>
              <a:rPr lang="en-US" sz="2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organisation-scoped rows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7772400" y="17373600"/>
            <a:ext cx="58521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1B2A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173736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history</a:t>
            </a:r>
            <a:endParaRPr lang="en-US" sz="3200" dirty="0"/>
          </a:p>
          <a:p>
            <a:pPr algn="ctr" indent="0" marL="0">
              <a:buNone/>
            </a:pPr>
            <a:r>
              <a:rPr lang="en-US" sz="2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sent, delivered, failed</a:t>
            </a:r>
            <a:endParaRPr lang="en-US" sz="3200" dirty="0"/>
          </a:p>
        </p:txBody>
      </p:sp>
      <p:sp>
        <p:nvSpPr>
          <p:cNvPr id="34" name="Shape 32"/>
          <p:cNvSpPr/>
          <p:nvPr/>
        </p:nvSpPr>
        <p:spPr>
          <a:xfrm>
            <a:off x="14173200" y="17373600"/>
            <a:ext cx="59436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25400">
            <a:solidFill>
              <a:srgbClr val="1B2A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356080" y="1737360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summaries</a:t>
            </a:r>
            <a:endParaRPr lang="en-US" sz="3200" dirty="0"/>
          </a:p>
          <a:p>
            <a:pPr algn="ctr" indent="0" marL="0">
              <a:buNone/>
            </a:pPr>
            <a:r>
              <a:rPr lang="en-US" sz="2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and priority</a:t>
            </a:r>
            <a:endParaRPr lang="en-US" sz="3200" dirty="0"/>
          </a:p>
        </p:txBody>
      </p:sp>
      <p:sp>
        <p:nvSpPr>
          <p:cNvPr id="36" name="Shape 34"/>
          <p:cNvSpPr/>
          <p:nvPr/>
        </p:nvSpPr>
        <p:spPr>
          <a:xfrm>
            <a:off x="3474720" y="12893040"/>
            <a:ext cx="0" cy="914400"/>
          </a:xfrm>
          <a:prstGeom prst="line">
            <a:avLst/>
          </a:prstGeom>
          <a:noFill/>
          <a:ln w="508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503920" y="12893040"/>
            <a:ext cx="0" cy="914400"/>
          </a:xfrm>
          <a:prstGeom prst="line">
            <a:avLst/>
          </a:prstGeom>
          <a:noFill/>
          <a:ln w="508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3533120" y="12893040"/>
            <a:ext cx="0" cy="914400"/>
          </a:xfrm>
          <a:prstGeom prst="line">
            <a:avLst/>
          </a:prstGeom>
          <a:noFill/>
          <a:ln w="508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8288000" y="12893040"/>
            <a:ext cx="0" cy="914400"/>
          </a:xfrm>
          <a:prstGeom prst="line">
            <a:avLst/>
          </a:prstGeom>
          <a:noFill/>
          <a:ln w="508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297680" y="16642080"/>
            <a:ext cx="0" cy="731520"/>
          </a:xfrm>
          <a:prstGeom prst="line">
            <a:avLst/>
          </a:prstGeom>
          <a:noFill/>
          <a:ln w="508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698480" y="16642080"/>
            <a:ext cx="0" cy="731520"/>
          </a:xfrm>
          <a:prstGeom prst="line">
            <a:avLst/>
          </a:prstGeom>
          <a:noFill/>
          <a:ln w="508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7099280" y="16642080"/>
            <a:ext cx="0" cy="731520"/>
          </a:xfrm>
          <a:prstGeom prst="line">
            <a:avLst/>
          </a:prstGeom>
          <a:noFill/>
          <a:ln w="508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914400" y="200253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runs</a:t>
            </a:r>
            <a:endParaRPr lang="en-US" sz="4800" dirty="0"/>
          </a:p>
        </p:txBody>
      </p:sp>
      <p:sp>
        <p:nvSpPr>
          <p:cNvPr id="44" name="Shape 42"/>
          <p:cNvSpPr/>
          <p:nvPr/>
        </p:nvSpPr>
        <p:spPr>
          <a:xfrm>
            <a:off x="914400" y="20939760"/>
            <a:ext cx="9509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E7D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97280" y="20939760"/>
            <a:ext cx="9144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on-premise edge</a:t>
            </a:r>
            <a:endParaRPr lang="en-US" sz="3200" dirty="0"/>
          </a:p>
          <a:p>
            <a:pPr algn="ctr" indent="0" marL="0">
              <a:buNone/>
            </a:pPr>
            <a:r>
              <a:rPr lang="en-US" sz="2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the client controls. Data stays on their disk.</a:t>
            </a:r>
            <a:endParaRPr lang="en-US" sz="3200" dirty="0"/>
          </a:p>
        </p:txBody>
      </p:sp>
      <p:sp>
        <p:nvSpPr>
          <p:cNvPr id="46" name="Shape 44"/>
          <p:cNvSpPr/>
          <p:nvPr/>
        </p:nvSpPr>
        <p:spPr>
          <a:xfrm>
            <a:off x="10972800" y="20939760"/>
            <a:ext cx="9509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155680" y="20939760"/>
            <a:ext cx="9144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 demo: Render free plan</a:t>
            </a:r>
            <a:endParaRPr lang="en-US" sz="3200" dirty="0"/>
          </a:p>
          <a:p>
            <a:pPr algn="ctr" indent="0" marL="0">
              <a:buNone/>
            </a:pPr>
            <a:r>
              <a:rPr lang="en-US" sz="2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US region, fictional demo data only</a:t>
            </a:r>
            <a:endParaRPr lang="en-US" sz="3200" dirty="0"/>
          </a:p>
        </p:txBody>
      </p:sp>
      <p:sp>
        <p:nvSpPr>
          <p:cNvPr id="48" name="Text 46"/>
          <p:cNvSpPr/>
          <p:nvPr/>
        </p:nvSpPr>
        <p:spPr>
          <a:xfrm>
            <a:off x="914400" y="23591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is a good solution</a:t>
            </a:r>
            <a:endParaRPr lang="en-US" sz="4800" dirty="0"/>
          </a:p>
        </p:txBody>
      </p:sp>
      <p:sp>
        <p:nvSpPr>
          <p:cNvPr id="49" name="Text 47"/>
          <p:cNvSpPr/>
          <p:nvPr/>
        </p:nvSpPr>
        <p:spPr>
          <a:xfrm>
            <a:off x="914400" y="24505920"/>
            <a:ext cx="9692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before every send: no opt-in, no message. STOP works on its own.</a:t>
            </a:r>
            <a:endParaRPr lang="en-US" sz="3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organisation sees only its own data.</a:t>
            </a:r>
            <a:endParaRPr lang="en-US" sz="3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reminder is claimed once, so it can never double-send.</a:t>
            </a:r>
            <a:endParaRPr lang="en-US" sz="3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times follow the local clock through daylight saving.</a:t>
            </a:r>
            <a:endParaRPr lang="en-US" sz="3200" dirty="0"/>
          </a:p>
        </p:txBody>
      </p:sp>
      <p:sp>
        <p:nvSpPr>
          <p:cNvPr id="50" name="Text 48"/>
          <p:cNvSpPr/>
          <p:nvPr/>
        </p:nvSpPr>
        <p:spPr>
          <a:xfrm>
            <a:off x="11155680" y="235915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2A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know it works</a:t>
            </a:r>
            <a:endParaRPr lang="en-US" sz="4800" dirty="0"/>
          </a:p>
        </p:txBody>
      </p:sp>
      <p:sp>
        <p:nvSpPr>
          <p:cNvPr id="51" name="Text 49"/>
          <p:cNvSpPr/>
          <p:nvPr/>
        </p:nvSpPr>
        <p:spPr>
          <a:xfrm>
            <a:off x="11155680" y="24505920"/>
            <a:ext cx="93268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516 automated tests, run by CI on every change</a:t>
            </a:r>
            <a:endParaRPr lang="en-US" sz="3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audit and Docker smoke test in CI</a:t>
            </a:r>
            <a:endParaRPr lang="en-US" sz="3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are signature-checked; forged calls get 403</a:t>
            </a:r>
            <a:endParaRPr lang="en-US" sz="3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3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phone call was answered by voice on the live app</a:t>
            </a:r>
            <a:endParaRPr lang="en-US" sz="3200" dirty="0"/>
          </a:p>
        </p:txBody>
      </p:sp>
      <p:sp>
        <p:nvSpPr>
          <p:cNvPr id="52" name="Shape 50"/>
          <p:cNvSpPr/>
          <p:nvPr/>
        </p:nvSpPr>
        <p:spPr>
          <a:xfrm>
            <a:off x="914400" y="28529280"/>
            <a:ext cx="19568160" cy="9144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53" name="Text 51"/>
          <p:cNvSpPr/>
          <p:nvPr/>
        </p:nvSpPr>
        <p:spPr>
          <a:xfrm>
            <a:off x="1188720" y="28529280"/>
            <a:ext cx="1901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limits: </a:t>
            </a:r>
            <a:pPr indent="0" marL="0">
              <a:buNone/>
            </a:pPr>
            <a:r>
              <a:rPr lang="en-US" sz="2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to US numbers waits on carrier registration. The demo is cloud-hosted.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914400" y="29672280"/>
            <a:ext cx="1956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SQLite · Twilio · Claude · Docker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2026-10-13T18:12:25Z</dcterms:created>
  <dcterms:modified xsi:type="dcterms:W3CDTF">2026-10-13T18:12:25Z</dcterms:modified>
</cp:coreProperties>
</file>